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048601" cy="16446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02104" y="5782926"/>
            <a:ext cx="3171871" cy="185288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12295" y="5806420"/>
            <a:ext cx="1365850" cy="182900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31687" y="1788953"/>
            <a:ext cx="7072630" cy="962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0048601" cy="1644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16448" y="902007"/>
            <a:ext cx="17471203" cy="948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1539" y="3191935"/>
            <a:ext cx="18385790" cy="61283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45715" y="3273926"/>
            <a:ext cx="8573770" cy="2635885"/>
          </a:xfrm>
          <a:prstGeom prst="rect"/>
        </p:spPr>
        <p:txBody>
          <a:bodyPr wrap="square" lIns="0" tIns="200660" rIns="0" bIns="0" rtlCol="0" vert="horz">
            <a:spAutoFit/>
          </a:bodyPr>
          <a:lstStyle/>
          <a:p>
            <a:pPr marL="12700" marR="5080" indent="852805">
              <a:lnSpc>
                <a:spcPts val="9580"/>
              </a:lnSpc>
              <a:spcBef>
                <a:spcPts val="1580"/>
              </a:spcBef>
            </a:pPr>
            <a:r>
              <a:rPr dirty="0" sz="9150" spc="-100" b="0">
                <a:solidFill>
                  <a:srgbClr val="1F3888"/>
                </a:solidFill>
                <a:latin typeface="Times New Roman"/>
                <a:cs typeface="Times New Roman"/>
              </a:rPr>
              <a:t>Personal</a:t>
            </a:r>
            <a:r>
              <a:rPr dirty="0" sz="9150" spc="-500" b="0">
                <a:solidFill>
                  <a:srgbClr val="1F3888"/>
                </a:solidFill>
                <a:latin typeface="Times New Roman"/>
                <a:cs typeface="Times New Roman"/>
              </a:rPr>
              <a:t> </a:t>
            </a:r>
            <a:r>
              <a:rPr dirty="0" sz="9150" spc="-10" b="0">
                <a:solidFill>
                  <a:srgbClr val="1D3A89"/>
                </a:solidFill>
                <a:latin typeface="Times New Roman"/>
                <a:cs typeface="Times New Roman"/>
              </a:rPr>
              <a:t>Loan</a:t>
            </a:r>
            <a:r>
              <a:rPr dirty="0" sz="9150" spc="-10" b="0">
                <a:solidFill>
                  <a:srgbClr val="1F3A82"/>
                </a:solidFill>
                <a:latin typeface="Times New Roman"/>
                <a:cs typeface="Times New Roman"/>
              </a:rPr>
              <a:t>: </a:t>
            </a:r>
            <a:r>
              <a:rPr dirty="0" sz="9150" b="0">
                <a:solidFill>
                  <a:srgbClr val="1A3C86"/>
                </a:solidFill>
                <a:latin typeface="Times New Roman"/>
                <a:cs typeface="Times New Roman"/>
              </a:rPr>
              <a:t>Financial</a:t>
            </a:r>
            <a:r>
              <a:rPr dirty="0" sz="9150" spc="-370" b="0">
                <a:solidFill>
                  <a:srgbClr val="1A3C86"/>
                </a:solidFill>
                <a:latin typeface="Times New Roman"/>
                <a:cs typeface="Times New Roman"/>
              </a:rPr>
              <a:t> </a:t>
            </a:r>
            <a:r>
              <a:rPr dirty="0" sz="9150" spc="-10" b="0">
                <a:solidFill>
                  <a:srgbClr val="1A3C86"/>
                </a:solidFill>
                <a:latin typeface="Times New Roman"/>
                <a:cs typeface="Times New Roman"/>
              </a:rPr>
              <a:t>Services</a:t>
            </a:r>
            <a:endParaRPr sz="9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17843" y="6417147"/>
            <a:ext cx="9819005" cy="14154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36830">
              <a:lnSpc>
                <a:spcPts val="3660"/>
              </a:lnSpc>
              <a:spcBef>
                <a:spcPts val="95"/>
              </a:spcBef>
            </a:pPr>
            <a:r>
              <a:rPr dirty="0" sz="3100">
                <a:solidFill>
                  <a:srgbClr val="6B6B6B"/>
                </a:solidFill>
                <a:latin typeface="Arial MT"/>
                <a:cs typeface="Arial MT"/>
              </a:rPr>
              <a:t>OJT</a:t>
            </a:r>
            <a:r>
              <a:rPr dirty="0" sz="3100" spc="2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6B7186"/>
                </a:solidFill>
                <a:latin typeface="Arial MT"/>
                <a:cs typeface="Arial MT"/>
              </a:rPr>
              <a:t>Project</a:t>
            </a:r>
            <a:r>
              <a:rPr dirty="0" sz="3100" spc="75">
                <a:solidFill>
                  <a:srgbClr val="6B7186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5E758B"/>
                </a:solidFill>
                <a:latin typeface="Arial MT"/>
                <a:cs typeface="Arial MT"/>
              </a:rPr>
              <a:t>Report</a:t>
            </a:r>
            <a:r>
              <a:rPr dirty="0" sz="3100" spc="140">
                <a:solidFill>
                  <a:srgbClr val="5E758B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637486"/>
                </a:solidFill>
                <a:latin typeface="Arial MT"/>
                <a:cs typeface="Arial MT"/>
              </a:rPr>
              <a:t>|</a:t>
            </a:r>
            <a:r>
              <a:rPr dirty="0" sz="3100" spc="-85">
                <a:solidFill>
                  <a:srgbClr val="637486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616977"/>
                </a:solidFill>
                <a:latin typeface="Arial MT"/>
                <a:cs typeface="Arial MT"/>
              </a:rPr>
              <a:t>June</a:t>
            </a:r>
            <a:r>
              <a:rPr dirty="0" sz="3100" spc="75">
                <a:solidFill>
                  <a:srgbClr val="616977"/>
                </a:solidFill>
                <a:latin typeface="Arial MT"/>
                <a:cs typeface="Arial MT"/>
              </a:rPr>
              <a:t> </a:t>
            </a:r>
            <a:r>
              <a:rPr dirty="0" sz="3100" spc="-20">
                <a:solidFill>
                  <a:srgbClr val="5D677D"/>
                </a:solidFill>
                <a:latin typeface="Arial MT"/>
                <a:cs typeface="Arial MT"/>
              </a:rPr>
              <a:t>2026</a:t>
            </a:r>
            <a:endParaRPr sz="3100">
              <a:latin typeface="Arial MT"/>
              <a:cs typeface="Arial MT"/>
            </a:endParaRPr>
          </a:p>
          <a:p>
            <a:pPr algn="ctr" marL="12700" marR="5080">
              <a:lnSpc>
                <a:spcPts val="3620"/>
              </a:lnSpc>
              <a:spcBef>
                <a:spcPts val="145"/>
              </a:spcBef>
            </a:pPr>
            <a:r>
              <a:rPr dirty="0" sz="3100">
                <a:solidFill>
                  <a:srgbClr val="5D7791"/>
                </a:solidFill>
                <a:latin typeface="Arial MT"/>
                <a:cs typeface="Arial MT"/>
              </a:rPr>
              <a:t>Name:</a:t>
            </a:r>
            <a:r>
              <a:rPr dirty="0" sz="3100" spc="-90">
                <a:solidFill>
                  <a:srgbClr val="5D7791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5D6D89"/>
                </a:solidFill>
                <a:latin typeface="Arial MT"/>
                <a:cs typeface="Arial MT"/>
              </a:rPr>
              <a:t>Bedmutha</a:t>
            </a:r>
            <a:r>
              <a:rPr dirty="0" sz="3100" spc="-65">
                <a:solidFill>
                  <a:srgbClr val="5D6D89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677180"/>
                </a:solidFill>
                <a:latin typeface="Arial MT"/>
                <a:cs typeface="Arial MT"/>
              </a:rPr>
              <a:t>Jiya</a:t>
            </a:r>
            <a:r>
              <a:rPr dirty="0" sz="3100" spc="-75">
                <a:solidFill>
                  <a:srgbClr val="677180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637488"/>
                </a:solidFill>
                <a:latin typeface="Arial MT"/>
                <a:cs typeface="Arial MT"/>
              </a:rPr>
              <a:t>Pravin</a:t>
            </a:r>
            <a:r>
              <a:rPr dirty="0" sz="3100" spc="-70">
                <a:solidFill>
                  <a:srgbClr val="637488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67757D"/>
                </a:solidFill>
                <a:latin typeface="Arial MT"/>
                <a:cs typeface="Arial MT"/>
              </a:rPr>
              <a:t>|</a:t>
            </a:r>
            <a:r>
              <a:rPr dirty="0" sz="3100" spc="-145">
                <a:solidFill>
                  <a:srgbClr val="67757D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637782"/>
                </a:solidFill>
                <a:latin typeface="Arial MT"/>
                <a:cs typeface="Arial MT"/>
              </a:rPr>
              <a:t>Class:</a:t>
            </a:r>
            <a:r>
              <a:rPr dirty="0" sz="3100" spc="-70">
                <a:solidFill>
                  <a:srgbClr val="637782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71799C"/>
                </a:solidFill>
                <a:latin typeface="Arial MT"/>
                <a:cs typeface="Arial MT"/>
              </a:rPr>
              <a:t>M.Sc.</a:t>
            </a:r>
            <a:r>
              <a:rPr dirty="0" sz="3100" spc="-85">
                <a:solidFill>
                  <a:srgbClr val="71799C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697A86"/>
                </a:solidFill>
                <a:latin typeface="Arial MT"/>
                <a:cs typeface="Arial MT"/>
              </a:rPr>
              <a:t>Statistics</a:t>
            </a:r>
            <a:r>
              <a:rPr dirty="0" sz="3100" spc="-75">
                <a:solidFill>
                  <a:srgbClr val="697A86"/>
                </a:solidFill>
                <a:latin typeface="Arial MT"/>
                <a:cs typeface="Arial MT"/>
              </a:rPr>
              <a:t> </a:t>
            </a:r>
            <a:r>
              <a:rPr dirty="0" sz="3100" spc="-25">
                <a:solidFill>
                  <a:srgbClr val="717171"/>
                </a:solidFill>
                <a:latin typeface="Arial MT"/>
                <a:cs typeface="Arial MT"/>
              </a:rPr>
              <a:t>(I) </a:t>
            </a:r>
            <a:r>
              <a:rPr dirty="0" sz="3100">
                <a:solidFill>
                  <a:srgbClr val="697A94"/>
                </a:solidFill>
                <a:latin typeface="Arial MT"/>
                <a:cs typeface="Arial MT"/>
              </a:rPr>
              <a:t>Modern</a:t>
            </a:r>
            <a:r>
              <a:rPr dirty="0" sz="3100" spc="135">
                <a:solidFill>
                  <a:srgbClr val="697A94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677788"/>
                </a:solidFill>
                <a:latin typeface="Arial MT"/>
                <a:cs typeface="Arial MT"/>
              </a:rPr>
              <a:t>College</a:t>
            </a:r>
            <a:r>
              <a:rPr dirty="0" sz="3100" spc="114">
                <a:solidFill>
                  <a:srgbClr val="677788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5F6971"/>
                </a:solidFill>
                <a:latin typeface="Arial MT"/>
                <a:cs typeface="Arial MT"/>
              </a:rPr>
              <a:t>of</a:t>
            </a:r>
            <a:r>
              <a:rPr dirty="0" sz="3100" spc="120">
                <a:solidFill>
                  <a:srgbClr val="5F6971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556D8B"/>
                </a:solidFill>
                <a:latin typeface="Arial MT"/>
                <a:cs typeface="Arial MT"/>
              </a:rPr>
              <a:t>Arts,</a:t>
            </a:r>
            <a:r>
              <a:rPr dirty="0" sz="3100" spc="-55">
                <a:solidFill>
                  <a:srgbClr val="556D8B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637486"/>
                </a:solidFill>
                <a:latin typeface="Arial MT"/>
                <a:cs typeface="Arial MT"/>
              </a:rPr>
              <a:t>Science</a:t>
            </a:r>
            <a:r>
              <a:rPr dirty="0" sz="3100" spc="110">
                <a:solidFill>
                  <a:srgbClr val="637486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5F7790"/>
                </a:solidFill>
                <a:latin typeface="Arial MT"/>
                <a:cs typeface="Arial MT"/>
              </a:rPr>
              <a:t>and</a:t>
            </a:r>
            <a:r>
              <a:rPr dirty="0" sz="3100" spc="-60">
                <a:solidFill>
                  <a:srgbClr val="5F7790"/>
                </a:solidFill>
                <a:latin typeface="Arial MT"/>
                <a:cs typeface="Arial MT"/>
              </a:rPr>
              <a:t> </a:t>
            </a:r>
            <a:r>
              <a:rPr dirty="0" sz="3100" spc="-10">
                <a:solidFill>
                  <a:srgbClr val="6C7782"/>
                </a:solidFill>
                <a:latin typeface="Arial MT"/>
                <a:cs typeface="Arial MT"/>
              </a:rPr>
              <a:t>Commerce</a:t>
            </a:r>
            <a:endParaRPr sz="3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z="6050" spc="-65" b="0">
                <a:solidFill>
                  <a:srgbClr val="252525"/>
                </a:solidFill>
                <a:latin typeface="Cambria"/>
                <a:cs typeface="Cambria"/>
              </a:rPr>
              <a:t>Market</a:t>
            </a:r>
            <a:r>
              <a:rPr dirty="0" sz="6050" spc="-305" b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dirty="0" sz="6050" spc="-10" b="0">
                <a:solidFill>
                  <a:srgbClr val="1D1D1D"/>
                </a:solidFill>
                <a:latin typeface="Cambria"/>
                <a:cs typeface="Cambria"/>
              </a:rPr>
              <a:t>Challenges</a:t>
            </a:r>
            <a:endParaRPr sz="605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6448" y="2850189"/>
            <a:ext cx="3336290" cy="351472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 marR="1130300">
              <a:lnSpc>
                <a:spcPts val="3670"/>
              </a:lnSpc>
              <a:spcBef>
                <a:spcPts val="520"/>
              </a:spcBef>
            </a:pPr>
            <a:r>
              <a:rPr dirty="0" sz="3350" spc="-10">
                <a:solidFill>
                  <a:srgbClr val="173691"/>
                </a:solidFill>
                <a:latin typeface="Arial MT"/>
                <a:cs typeface="Arial MT"/>
              </a:rPr>
              <a:t>Market </a:t>
            </a:r>
            <a:r>
              <a:rPr dirty="0" sz="3350" spc="-70">
                <a:solidFill>
                  <a:srgbClr val="123A89"/>
                </a:solidFill>
                <a:latin typeface="Arial MT"/>
                <a:cs typeface="Arial MT"/>
              </a:rPr>
              <a:t>Competition</a:t>
            </a:r>
            <a:endParaRPr sz="3350">
              <a:latin typeface="Arial MT"/>
              <a:cs typeface="Arial MT"/>
            </a:endParaRPr>
          </a:p>
          <a:p>
            <a:pPr marL="15240" marR="5080" indent="5715">
              <a:lnSpc>
                <a:spcPct val="124600"/>
              </a:lnSpc>
              <a:spcBef>
                <a:spcPts val="575"/>
              </a:spcBef>
            </a:pPr>
            <a:r>
              <a:rPr dirty="0" sz="2200" spc="-30">
                <a:solidFill>
                  <a:srgbClr val="4D4D4D"/>
                </a:solidFill>
                <a:latin typeface="Arial MT"/>
                <a:cs typeface="Arial MT"/>
              </a:rPr>
              <a:t>The</a:t>
            </a:r>
            <a:r>
              <a:rPr dirty="0" sz="2200" spc="-14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35">
                <a:solidFill>
                  <a:srgbClr val="474747"/>
                </a:solidFill>
                <a:latin typeface="Arial MT"/>
                <a:cs typeface="Arial MT"/>
              </a:rPr>
              <a:t>personal</a:t>
            </a:r>
            <a:r>
              <a:rPr dirty="0" sz="2200" spc="-120">
                <a:solidFill>
                  <a:srgbClr val="474747"/>
                </a:solidFill>
                <a:latin typeface="Arial MT"/>
                <a:cs typeface="Arial MT"/>
              </a:rPr>
              <a:t> </a:t>
            </a:r>
            <a:r>
              <a:rPr dirty="0" sz="2200" spc="-30">
                <a:solidFill>
                  <a:srgbClr val="484848"/>
                </a:solidFill>
                <a:latin typeface="Arial MT"/>
                <a:cs typeface="Arial MT"/>
              </a:rPr>
              <a:t>loan</a:t>
            </a:r>
            <a:r>
              <a:rPr dirty="0" sz="2200" spc="-13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40">
                <a:solidFill>
                  <a:srgbClr val="414141"/>
                </a:solidFill>
                <a:latin typeface="Arial MT"/>
                <a:cs typeface="Arial MT"/>
              </a:rPr>
              <a:t>market</a:t>
            </a:r>
            <a:r>
              <a:rPr dirty="0" sz="2200" spc="-15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444444"/>
                </a:solidFill>
                <a:latin typeface="Arial MT"/>
                <a:cs typeface="Arial MT"/>
              </a:rPr>
              <a:t>is </a:t>
            </a:r>
            <a:r>
              <a:rPr dirty="0" sz="2000">
                <a:solidFill>
                  <a:srgbClr val="3E3E3E"/>
                </a:solidFill>
                <a:latin typeface="Arial MT"/>
                <a:cs typeface="Arial MT"/>
              </a:rPr>
              <a:t>highly</a:t>
            </a:r>
            <a:r>
              <a:rPr dirty="0" sz="2000" spc="85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24242"/>
                </a:solidFill>
                <a:latin typeface="Arial MT"/>
                <a:cs typeface="Arial MT"/>
              </a:rPr>
              <a:t>competitive</a:t>
            </a:r>
            <a:r>
              <a:rPr dirty="0" sz="2000" spc="35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505050"/>
                </a:solidFill>
                <a:latin typeface="Arial MT"/>
                <a:cs typeface="Arial MT"/>
              </a:rPr>
              <a:t>with </a:t>
            </a:r>
            <a:r>
              <a:rPr dirty="0" sz="2000">
                <a:solidFill>
                  <a:srgbClr val="474747"/>
                </a:solidFill>
                <a:latin typeface="Arial MT"/>
                <a:cs typeface="Arial MT"/>
              </a:rPr>
              <a:t>multiple</a:t>
            </a:r>
            <a:r>
              <a:rPr dirty="0" sz="2000" spc="85">
                <a:solidFill>
                  <a:srgbClr val="474747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3C3C3C"/>
                </a:solidFill>
                <a:latin typeface="Arial MT"/>
                <a:cs typeface="Arial MT"/>
              </a:rPr>
              <a:t>financial</a:t>
            </a:r>
            <a:r>
              <a:rPr dirty="0" sz="2000" spc="105">
                <a:solidFill>
                  <a:srgbClr val="3C3C3C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24242"/>
                </a:solidFill>
                <a:latin typeface="Arial MT"/>
                <a:cs typeface="Arial MT"/>
              </a:rPr>
              <a:t>institutions </a:t>
            </a:r>
            <a:r>
              <a:rPr dirty="0" sz="2200">
                <a:solidFill>
                  <a:srgbClr val="464646"/>
                </a:solidFill>
                <a:latin typeface="Arial MT"/>
                <a:cs typeface="Arial MT"/>
              </a:rPr>
              <a:t>offering</a:t>
            </a:r>
            <a:r>
              <a:rPr dirty="0" sz="2200" spc="-5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464646"/>
                </a:solidFill>
                <a:latin typeface="Arial MT"/>
                <a:cs typeface="Arial MT"/>
              </a:rPr>
              <a:t>similar</a:t>
            </a:r>
            <a:r>
              <a:rPr dirty="0" sz="2200" spc="-3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444444"/>
                </a:solidFill>
                <a:latin typeface="Arial MT"/>
                <a:cs typeface="Arial MT"/>
              </a:rPr>
              <a:t>products </a:t>
            </a:r>
            <a:r>
              <a:rPr dirty="0" sz="2200">
                <a:solidFill>
                  <a:srgbClr val="3E3E3E"/>
                </a:solidFill>
                <a:latin typeface="Arial MT"/>
                <a:cs typeface="Arial MT"/>
              </a:rPr>
              <a:t>based</a:t>
            </a:r>
            <a:r>
              <a:rPr dirty="0" sz="2200" spc="-95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424242"/>
                </a:solidFill>
                <a:latin typeface="Arial MT"/>
                <a:cs typeface="Arial MT"/>
              </a:rPr>
              <a:t>on</a:t>
            </a:r>
            <a:r>
              <a:rPr dirty="0" sz="2200" spc="-13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464646"/>
                </a:solidFill>
                <a:latin typeface="Arial MT"/>
                <a:cs typeface="Arial MT"/>
              </a:rPr>
              <a:t>varying</a:t>
            </a:r>
            <a:r>
              <a:rPr dirty="0" sz="2200" spc="-6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444444"/>
                </a:solidFill>
                <a:latin typeface="Arial MT"/>
                <a:cs typeface="Arial MT"/>
              </a:rPr>
              <a:t>fees</a:t>
            </a:r>
            <a:r>
              <a:rPr dirty="0" sz="2200" spc="-15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484848"/>
                </a:solidFill>
                <a:latin typeface="Arial MT"/>
                <a:cs typeface="Arial MT"/>
              </a:rPr>
              <a:t>and </a:t>
            </a:r>
            <a:r>
              <a:rPr dirty="0" sz="2200" spc="-10">
                <a:solidFill>
                  <a:srgbClr val="3E3E3E"/>
                </a:solidFill>
                <a:latin typeface="Arial MT"/>
                <a:cs typeface="Arial MT"/>
              </a:rPr>
              <a:t>structures.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3400" y="7710102"/>
            <a:ext cx="3281679" cy="307403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8415" marR="1009015" indent="-6350">
              <a:lnSpc>
                <a:spcPts val="3579"/>
              </a:lnSpc>
              <a:spcBef>
                <a:spcPts val="425"/>
              </a:spcBef>
            </a:pPr>
            <a:r>
              <a:rPr dirty="0" sz="3200" spc="-10">
                <a:solidFill>
                  <a:srgbClr val="123892"/>
                </a:solidFill>
                <a:latin typeface="Arial MT"/>
                <a:cs typeface="Arial MT"/>
              </a:rPr>
              <a:t>Feature </a:t>
            </a:r>
            <a:r>
              <a:rPr dirty="0" sz="3200" spc="-10">
                <a:solidFill>
                  <a:srgbClr val="173988"/>
                </a:solidFill>
                <a:latin typeface="Arial MT"/>
                <a:cs typeface="Arial MT"/>
              </a:rPr>
              <a:t>Optimization</a:t>
            </a:r>
            <a:endParaRPr sz="3200">
              <a:latin typeface="Arial MT"/>
              <a:cs typeface="Arial MT"/>
            </a:endParaRPr>
          </a:p>
          <a:p>
            <a:pPr marL="18415" marR="5080" indent="2540">
              <a:lnSpc>
                <a:spcPct val="126800"/>
              </a:lnSpc>
              <a:spcBef>
                <a:spcPts val="840"/>
              </a:spcBef>
            </a:pPr>
            <a:r>
              <a:rPr dirty="0" sz="2000">
                <a:solidFill>
                  <a:srgbClr val="424242"/>
                </a:solidFill>
                <a:latin typeface="Arial MT"/>
                <a:cs typeface="Arial MT"/>
              </a:rPr>
              <a:t>Identifying</a:t>
            </a:r>
            <a:r>
              <a:rPr dirty="0" sz="2000" spc="32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646"/>
                </a:solidFill>
                <a:latin typeface="Arial MT"/>
                <a:cs typeface="Arial MT"/>
              </a:rPr>
              <a:t>which</a:t>
            </a:r>
            <a:r>
              <a:rPr dirty="0" sz="2000" spc="8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3C3C3C"/>
                </a:solidFill>
                <a:latin typeface="Arial MT"/>
                <a:cs typeface="Arial MT"/>
              </a:rPr>
              <a:t>product </a:t>
            </a:r>
            <a:r>
              <a:rPr dirty="0" sz="2000">
                <a:solidFill>
                  <a:srgbClr val="464646"/>
                </a:solidFill>
                <a:latin typeface="Arial MT"/>
                <a:cs typeface="Arial MT"/>
              </a:rPr>
              <a:t>features</a:t>
            </a:r>
            <a:r>
              <a:rPr dirty="0" sz="2000" spc="12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64646"/>
                </a:solidFill>
                <a:latin typeface="Arial MT"/>
                <a:cs typeface="Arial MT"/>
              </a:rPr>
              <a:t>maximize</a:t>
            </a:r>
            <a:r>
              <a:rPr dirty="0" sz="2000" spc="11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64646"/>
                </a:solidFill>
                <a:latin typeface="Arial MT"/>
                <a:cs typeface="Arial MT"/>
              </a:rPr>
              <a:t>customer </a:t>
            </a:r>
            <a:r>
              <a:rPr dirty="0" sz="2300" spc="-50">
                <a:solidFill>
                  <a:srgbClr val="3E3E3E"/>
                </a:solidFill>
                <a:latin typeface="Arial MT"/>
                <a:cs typeface="Arial MT"/>
              </a:rPr>
              <a:t>acceptance</a:t>
            </a:r>
            <a:r>
              <a:rPr dirty="0" sz="2300" spc="-114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dirty="0" sz="2300" spc="-35">
                <a:solidFill>
                  <a:srgbClr val="4D4D4D"/>
                </a:solidFill>
                <a:latin typeface="Arial MT"/>
                <a:cs typeface="Arial MT"/>
              </a:rPr>
              <a:t>is</a:t>
            </a:r>
            <a:r>
              <a:rPr dirty="0" sz="2300" spc="-10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A5866"/>
                </a:solidFill>
                <a:latin typeface="Arial MT"/>
                <a:cs typeface="Arial MT"/>
              </a:rPr>
              <a:t>a</a:t>
            </a:r>
            <a:r>
              <a:rPr dirty="0" sz="2300" spc="-165">
                <a:solidFill>
                  <a:srgbClr val="4A5866"/>
                </a:solidFill>
                <a:latin typeface="Arial MT"/>
                <a:cs typeface="Arial MT"/>
              </a:rPr>
              <a:t> </a:t>
            </a:r>
            <a:r>
              <a:rPr dirty="0" sz="2300" spc="-20">
                <a:solidFill>
                  <a:srgbClr val="474747"/>
                </a:solidFill>
                <a:latin typeface="Arial MT"/>
                <a:cs typeface="Arial MT"/>
              </a:rPr>
              <a:t>major </a:t>
            </a:r>
            <a:r>
              <a:rPr dirty="0" sz="2000">
                <a:solidFill>
                  <a:srgbClr val="464646"/>
                </a:solidFill>
                <a:latin typeface="Arial MT"/>
                <a:cs typeface="Arial MT"/>
              </a:rPr>
              <a:t>hurdle</a:t>
            </a:r>
            <a:r>
              <a:rPr dirty="0" sz="2000" spc="7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4F4F4F"/>
                </a:solidFill>
                <a:latin typeface="Arial MT"/>
                <a:cs typeface="Arial MT"/>
              </a:rPr>
              <a:t>for</a:t>
            </a:r>
            <a:r>
              <a:rPr dirty="0" sz="2000" spc="28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3E3E3E"/>
                </a:solidFill>
                <a:latin typeface="Arial MT"/>
                <a:cs typeface="Arial MT"/>
              </a:rPr>
              <a:t>modern</a:t>
            </a:r>
            <a:r>
              <a:rPr dirty="0" sz="2000" spc="8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484848"/>
                </a:solidFill>
                <a:latin typeface="Arial MT"/>
                <a:cs typeface="Arial MT"/>
              </a:rPr>
              <a:t>financial </a:t>
            </a:r>
            <a:r>
              <a:rPr dirty="0" sz="2000" spc="-10">
                <a:solidFill>
                  <a:srgbClr val="393939"/>
                </a:solidFill>
                <a:latin typeface="Arial MT"/>
                <a:cs typeface="Arial MT"/>
              </a:rPr>
              <a:t>institutions.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1434" y="2883716"/>
            <a:ext cx="3242945" cy="3065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240">
              <a:lnSpc>
                <a:spcPts val="3610"/>
              </a:lnSpc>
              <a:spcBef>
                <a:spcPts val="95"/>
              </a:spcBef>
            </a:pPr>
            <a:r>
              <a:rPr dirty="0" sz="3100" spc="-10">
                <a:solidFill>
                  <a:srgbClr val="233E8E"/>
                </a:solidFill>
                <a:latin typeface="Arial MT"/>
                <a:cs typeface="Arial MT"/>
              </a:rPr>
              <a:t>Customer</a:t>
            </a:r>
            <a:endParaRPr sz="3100">
              <a:latin typeface="Arial MT"/>
              <a:cs typeface="Arial MT"/>
            </a:endParaRPr>
          </a:p>
          <a:p>
            <a:pPr marL="12700">
              <a:lnSpc>
                <a:spcPts val="3729"/>
              </a:lnSpc>
            </a:pPr>
            <a:r>
              <a:rPr dirty="0" sz="3200" spc="-10">
                <a:solidFill>
                  <a:srgbClr val="153892"/>
                </a:solidFill>
                <a:latin typeface="Arial MT"/>
                <a:cs typeface="Arial MT"/>
              </a:rPr>
              <a:t>Evaluation</a:t>
            </a:r>
            <a:endParaRPr sz="3200">
              <a:latin typeface="Arial MT"/>
              <a:cs typeface="Arial MT"/>
            </a:endParaRPr>
          </a:p>
          <a:p>
            <a:pPr marL="15240" marR="5080" indent="5715">
              <a:lnSpc>
                <a:spcPct val="113700"/>
              </a:lnSpc>
              <a:spcBef>
                <a:spcPts val="905"/>
              </a:spcBef>
            </a:pPr>
            <a:r>
              <a:rPr dirty="0" sz="2300" spc="-114">
                <a:solidFill>
                  <a:srgbClr val="3E3E3E"/>
                </a:solidFill>
                <a:latin typeface="Arial MT"/>
                <a:cs typeface="Arial MT"/>
              </a:rPr>
              <a:t>Clients</a:t>
            </a:r>
            <a:r>
              <a:rPr dirty="0" sz="2300" spc="-15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dirty="0" sz="2300" spc="-120">
                <a:solidFill>
                  <a:srgbClr val="464646"/>
                </a:solidFill>
                <a:latin typeface="Arial MT"/>
                <a:cs typeface="Arial MT"/>
              </a:rPr>
              <a:t>evaluate</a:t>
            </a:r>
            <a:r>
              <a:rPr dirty="0" sz="2300" spc="-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300" spc="-114">
                <a:solidFill>
                  <a:srgbClr val="3A3A3A"/>
                </a:solidFill>
                <a:latin typeface="Arial MT"/>
                <a:cs typeface="Arial MT"/>
              </a:rPr>
              <a:t>processing </a:t>
            </a:r>
            <a:r>
              <a:rPr dirty="0" sz="2300" spc="-40">
                <a:solidFill>
                  <a:srgbClr val="3C3C3C"/>
                </a:solidFill>
                <a:latin typeface="Arial MT"/>
                <a:cs typeface="Arial MT"/>
              </a:rPr>
              <a:t>fees,</a:t>
            </a:r>
            <a:r>
              <a:rPr dirty="0" sz="2300" spc="-80">
                <a:solidFill>
                  <a:srgbClr val="3C3C3C"/>
                </a:solidFill>
                <a:latin typeface="Arial MT"/>
                <a:cs typeface="Arial MT"/>
              </a:rPr>
              <a:t> </a:t>
            </a:r>
            <a:r>
              <a:rPr dirty="0" sz="2300" spc="-50">
                <a:solidFill>
                  <a:srgbClr val="444444"/>
                </a:solidFill>
                <a:latin typeface="Arial MT"/>
                <a:cs typeface="Arial MT"/>
              </a:rPr>
              <a:t>disbursal</a:t>
            </a:r>
            <a:r>
              <a:rPr dirty="0" sz="2300" spc="-12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300" spc="-20">
                <a:solidFill>
                  <a:srgbClr val="424242"/>
                </a:solidFill>
                <a:latin typeface="Arial MT"/>
                <a:cs typeface="Arial MT"/>
              </a:rPr>
              <a:t>time, </a:t>
            </a:r>
            <a:r>
              <a:rPr dirty="0" sz="2300" spc="-60">
                <a:solidFill>
                  <a:srgbClr val="3A3A3A"/>
                </a:solidFill>
                <a:latin typeface="Arial MT"/>
                <a:cs typeface="Arial MT"/>
              </a:rPr>
              <a:t>documentation,</a:t>
            </a:r>
            <a:r>
              <a:rPr dirty="0" sz="2300" spc="-2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2300" spc="-25">
                <a:solidFill>
                  <a:srgbClr val="424242"/>
                </a:solidFill>
                <a:latin typeface="Arial MT"/>
                <a:cs typeface="Arial MT"/>
              </a:rPr>
              <a:t>and </a:t>
            </a:r>
            <a:r>
              <a:rPr dirty="0" sz="2300" spc="-140">
                <a:solidFill>
                  <a:srgbClr val="424242"/>
                </a:solidFill>
                <a:latin typeface="Arial MT"/>
                <a:cs typeface="Arial MT"/>
              </a:rPr>
              <a:t>repayment</a:t>
            </a:r>
            <a:r>
              <a:rPr dirty="0" sz="2300" spc="-1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300" spc="-85">
                <a:solidFill>
                  <a:srgbClr val="464646"/>
                </a:solidFill>
                <a:latin typeface="Arial MT"/>
                <a:cs typeface="Arial MT"/>
              </a:rPr>
              <a:t>flexibility</a:t>
            </a:r>
            <a:r>
              <a:rPr dirty="0" sz="2300" spc="-1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474747"/>
                </a:solidFill>
                <a:latin typeface="Arial MT"/>
                <a:cs typeface="Arial MT"/>
              </a:rPr>
              <a:t>before </a:t>
            </a:r>
            <a:r>
              <a:rPr dirty="0" sz="2300" spc="-50">
                <a:solidFill>
                  <a:srgbClr val="4A4A4A"/>
                </a:solidFill>
                <a:latin typeface="Arial MT"/>
                <a:cs typeface="Arial MT"/>
              </a:rPr>
              <a:t>selecting</a:t>
            </a:r>
            <a:r>
              <a:rPr dirty="0" sz="2300" spc="-135">
                <a:solidFill>
                  <a:srgbClr val="4A4A4A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DFEBFF"/>
                </a:solidFill>
                <a:latin typeface="Arial MT"/>
                <a:cs typeface="Arial MT"/>
              </a:rPr>
              <a:t>a</a:t>
            </a:r>
            <a:r>
              <a:rPr dirty="0" sz="2300" spc="-110">
                <a:solidFill>
                  <a:srgbClr val="DFEBFF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3E3E3E"/>
                </a:solidFill>
                <a:latin typeface="Arial MT"/>
                <a:cs typeface="Arial MT"/>
              </a:rPr>
              <a:t>provider.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97530" y="7421053"/>
            <a:ext cx="3021965" cy="2919730"/>
          </a:xfrm>
          <a:prstGeom prst="rect">
            <a:avLst/>
          </a:prstGeom>
        </p:spPr>
        <p:txBody>
          <a:bodyPr wrap="square" lIns="0" tIns="27178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2140"/>
              </a:spcBef>
            </a:pPr>
            <a:r>
              <a:rPr dirty="0" sz="3450" spc="-120">
                <a:solidFill>
                  <a:srgbClr val="2C429E"/>
                </a:solidFill>
                <a:latin typeface="Arial MT"/>
                <a:cs typeface="Arial MT"/>
              </a:rPr>
              <a:t>Analytical</a:t>
            </a:r>
            <a:r>
              <a:rPr dirty="0" sz="3450" spc="-45">
                <a:solidFill>
                  <a:srgbClr val="2C429E"/>
                </a:solidFill>
                <a:latin typeface="Arial MT"/>
                <a:cs typeface="Arial MT"/>
              </a:rPr>
              <a:t> </a:t>
            </a:r>
            <a:r>
              <a:rPr dirty="0" sz="3450" spc="-20">
                <a:solidFill>
                  <a:srgbClr val="173886"/>
                </a:solidFill>
                <a:latin typeface="Arial MT"/>
                <a:cs typeface="Arial MT"/>
              </a:rPr>
              <a:t>Goals</a:t>
            </a:r>
            <a:endParaRPr sz="3450">
              <a:latin typeface="Arial MT"/>
              <a:cs typeface="Arial MT"/>
            </a:endParaRPr>
          </a:p>
          <a:p>
            <a:pPr marL="12700" marR="92710" indent="2540">
              <a:lnSpc>
                <a:spcPct val="119800"/>
              </a:lnSpc>
              <a:spcBef>
                <a:spcPts val="790"/>
              </a:spcBef>
            </a:pPr>
            <a:r>
              <a:rPr dirty="0" sz="2200">
                <a:solidFill>
                  <a:srgbClr val="484848"/>
                </a:solidFill>
                <a:latin typeface="Arial MT"/>
                <a:cs typeface="Arial MT"/>
              </a:rPr>
              <a:t>This</a:t>
            </a:r>
            <a:r>
              <a:rPr dirty="0" sz="2200" spc="-4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383838"/>
                </a:solidFill>
                <a:latin typeface="Arial MT"/>
                <a:cs typeface="Arial MT"/>
              </a:rPr>
              <a:t>project</a:t>
            </a:r>
            <a:r>
              <a:rPr dirty="0" sz="2200" spc="-3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4A4A4A"/>
                </a:solidFill>
                <a:latin typeface="Arial MT"/>
                <a:cs typeface="Arial MT"/>
              </a:rPr>
              <a:t>aims</a:t>
            </a:r>
            <a:r>
              <a:rPr dirty="0" sz="2200" spc="-65">
                <a:solidFill>
                  <a:srgbClr val="4A4A4A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484848"/>
                </a:solidFill>
                <a:latin typeface="Arial MT"/>
                <a:cs typeface="Arial MT"/>
              </a:rPr>
              <a:t>to </a:t>
            </a:r>
            <a:r>
              <a:rPr dirty="0" sz="2200">
                <a:solidFill>
                  <a:srgbClr val="484848"/>
                </a:solidFill>
                <a:latin typeface="Arial MT"/>
                <a:cs typeface="Arial MT"/>
              </a:rPr>
              <a:t>optimize</a:t>
            </a:r>
            <a:r>
              <a:rPr dirty="0" sz="2200" spc="-4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484848"/>
                </a:solidFill>
                <a:latin typeface="Arial MT"/>
                <a:cs typeface="Arial MT"/>
              </a:rPr>
              <a:t>loan</a:t>
            </a:r>
            <a:r>
              <a:rPr dirty="0" sz="2200" spc="-5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444444"/>
                </a:solidFill>
                <a:latin typeface="Arial MT"/>
                <a:cs typeface="Arial MT"/>
              </a:rPr>
              <a:t>product </a:t>
            </a:r>
            <a:r>
              <a:rPr dirty="0" sz="2200" spc="-50">
                <a:solidFill>
                  <a:srgbClr val="3E3E3E"/>
                </a:solidFill>
                <a:latin typeface="Arial MT"/>
                <a:cs typeface="Arial MT"/>
              </a:rPr>
              <a:t>design</a:t>
            </a:r>
            <a:r>
              <a:rPr dirty="0" sz="2200" spc="-105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dirty="0" sz="2200" spc="-45">
                <a:solidFill>
                  <a:srgbClr val="484848"/>
                </a:solidFill>
                <a:latin typeface="Arial MT"/>
                <a:cs typeface="Arial MT"/>
              </a:rPr>
              <a:t>using</a:t>
            </a:r>
            <a:r>
              <a:rPr dirty="0" sz="2200" spc="-7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60">
                <a:solidFill>
                  <a:srgbClr val="3E3E3E"/>
                </a:solidFill>
                <a:latin typeface="Arial MT"/>
                <a:cs typeface="Arial MT"/>
              </a:rPr>
              <a:t>data-</a:t>
            </a:r>
            <a:r>
              <a:rPr dirty="0" sz="2200" spc="-30">
                <a:solidFill>
                  <a:srgbClr val="3E3E3E"/>
                </a:solidFill>
                <a:latin typeface="Arial MT"/>
                <a:cs typeface="Arial MT"/>
              </a:rPr>
              <a:t>driven </a:t>
            </a:r>
            <a:r>
              <a:rPr dirty="0" sz="2200" spc="-10">
                <a:solidFill>
                  <a:srgbClr val="505050"/>
                </a:solidFill>
                <a:latin typeface="Arial MT"/>
                <a:cs typeface="Arial MT"/>
              </a:rPr>
              <a:t>analysis</a:t>
            </a:r>
            <a:r>
              <a:rPr dirty="0" sz="2200" spc="-95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464646"/>
                </a:solidFill>
                <a:latin typeface="Arial MT"/>
                <a:cs typeface="Arial MT"/>
              </a:rPr>
              <a:t>and</a:t>
            </a:r>
            <a:r>
              <a:rPr dirty="0" sz="2200" spc="-11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464646"/>
                </a:solidFill>
                <a:latin typeface="Arial MT"/>
                <a:cs typeface="Arial MT"/>
              </a:rPr>
              <a:t>predictive </a:t>
            </a:r>
            <a:r>
              <a:rPr dirty="0" sz="2200">
                <a:solidFill>
                  <a:srgbClr val="414141"/>
                </a:solidFill>
                <a:latin typeface="Arial MT"/>
                <a:cs typeface="Arial MT"/>
              </a:rPr>
              <a:t>customer</a:t>
            </a:r>
            <a:r>
              <a:rPr dirty="0" sz="2200" spc="-135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464646"/>
                </a:solidFill>
                <a:latin typeface="Arial MT"/>
                <a:cs typeface="Arial MT"/>
              </a:rPr>
              <a:t>surveys.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12164" y="7299902"/>
            <a:ext cx="4115435" cy="62865"/>
          </a:xfrm>
          <a:custGeom>
            <a:avLst/>
            <a:gdLst/>
            <a:ahLst/>
            <a:cxnLst/>
            <a:rect l="l" t="t" r="r" b="b"/>
            <a:pathLst>
              <a:path w="4115435" h="62865">
                <a:moveTo>
                  <a:pt x="0" y="62863"/>
                </a:moveTo>
                <a:lnTo>
                  <a:pt x="4114950" y="62863"/>
                </a:lnTo>
              </a:path>
              <a:path w="4115435" h="62865">
                <a:moveTo>
                  <a:pt x="23557" y="0"/>
                </a:moveTo>
                <a:lnTo>
                  <a:pt x="4075707" y="0"/>
                </a:lnTo>
              </a:path>
            </a:pathLst>
          </a:custGeom>
          <a:ln w="23557">
            <a:solidFill>
              <a:srgbClr val="1F388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488166" y="7301299"/>
            <a:ext cx="4115435" cy="62865"/>
          </a:xfrm>
          <a:custGeom>
            <a:avLst/>
            <a:gdLst/>
            <a:ahLst/>
            <a:cxnLst/>
            <a:rect l="l" t="t" r="r" b="b"/>
            <a:pathLst>
              <a:path w="4115434" h="62865">
                <a:moveTo>
                  <a:pt x="0" y="62736"/>
                </a:moveTo>
                <a:lnTo>
                  <a:pt x="4114950" y="62736"/>
                </a:lnTo>
              </a:path>
              <a:path w="4115434" h="62865">
                <a:moveTo>
                  <a:pt x="23494" y="0"/>
                </a:moveTo>
                <a:lnTo>
                  <a:pt x="4075707" y="0"/>
                </a:lnTo>
              </a:path>
            </a:pathLst>
          </a:custGeom>
          <a:ln w="23557">
            <a:solidFill>
              <a:srgbClr val="1F3883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22953" y="2485581"/>
            <a:ext cx="8637559" cy="62818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16" y="929654"/>
            <a:ext cx="93977" cy="92411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005179" y="2480628"/>
            <a:ext cx="4115435" cy="62865"/>
          </a:xfrm>
          <a:custGeom>
            <a:avLst/>
            <a:gdLst/>
            <a:ahLst/>
            <a:cxnLst/>
            <a:rect l="l" t="t" r="r" b="b"/>
            <a:pathLst>
              <a:path w="4115435" h="62864">
                <a:moveTo>
                  <a:pt x="0" y="62736"/>
                </a:moveTo>
                <a:lnTo>
                  <a:pt x="4114950" y="62736"/>
                </a:lnTo>
              </a:path>
              <a:path w="4115435" h="62864">
                <a:moveTo>
                  <a:pt x="23557" y="0"/>
                </a:moveTo>
                <a:lnTo>
                  <a:pt x="4075707" y="0"/>
                </a:lnTo>
              </a:path>
            </a:pathLst>
          </a:custGeom>
          <a:ln w="23557">
            <a:solidFill>
              <a:srgbClr val="1F388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481181" y="2480628"/>
            <a:ext cx="4115435" cy="62865"/>
          </a:xfrm>
          <a:custGeom>
            <a:avLst/>
            <a:gdLst/>
            <a:ahLst/>
            <a:cxnLst/>
            <a:rect l="l" t="t" r="r" b="b"/>
            <a:pathLst>
              <a:path w="4115434" h="62864">
                <a:moveTo>
                  <a:pt x="0" y="62736"/>
                </a:moveTo>
                <a:lnTo>
                  <a:pt x="4114950" y="62736"/>
                </a:lnTo>
              </a:path>
              <a:path w="4115434" h="62864">
                <a:moveTo>
                  <a:pt x="23621" y="0"/>
                </a:moveTo>
                <a:lnTo>
                  <a:pt x="4075707" y="0"/>
                </a:lnTo>
              </a:path>
            </a:pathLst>
          </a:custGeom>
          <a:ln w="23557">
            <a:solidFill>
              <a:srgbClr val="1F3883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49975" y="2609098"/>
            <a:ext cx="6163310" cy="9258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900" spc="120" b="0">
                <a:solidFill>
                  <a:srgbClr val="222222"/>
                </a:solidFill>
                <a:latin typeface="Times New Roman"/>
                <a:cs typeface="Times New Roman"/>
              </a:rPr>
              <a:t>Primary</a:t>
            </a:r>
            <a:r>
              <a:rPr dirty="0" sz="5900" spc="620" b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dirty="0" sz="5900" spc="90" b="0">
                <a:solidFill>
                  <a:srgbClr val="232323"/>
                </a:solidFill>
                <a:latin typeface="Times New Roman"/>
                <a:cs typeface="Times New Roman"/>
              </a:rPr>
              <a:t>Objectives</a:t>
            </a:r>
            <a:endParaRPr sz="5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3868" y="5197724"/>
            <a:ext cx="17358360" cy="38125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34695" algn="l"/>
              </a:tabLst>
            </a:pPr>
            <a:r>
              <a:rPr dirty="0" sz="2550" spc="50">
                <a:solidFill>
                  <a:srgbClr val="1C3A86"/>
                </a:solidFill>
                <a:latin typeface="Arial MT"/>
                <a:cs typeface="Arial MT"/>
              </a:rPr>
              <a:t>@</a:t>
            </a:r>
            <a:r>
              <a:rPr dirty="0" sz="2550">
                <a:solidFill>
                  <a:srgbClr val="1C3A86"/>
                </a:solidFill>
                <a:latin typeface="Arial MT"/>
                <a:cs typeface="Arial MT"/>
              </a:rPr>
              <a:t>	</a:t>
            </a:r>
            <a:r>
              <a:rPr dirty="0" sz="2550" b="1">
                <a:solidFill>
                  <a:srgbClr val="424242"/>
                </a:solidFill>
                <a:latin typeface="Arial"/>
                <a:cs typeface="Arial"/>
              </a:rPr>
              <a:t>Identify</a:t>
            </a:r>
            <a:r>
              <a:rPr dirty="0" sz="2550" spc="60" b="1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2550" spc="45">
                <a:solidFill>
                  <a:srgbClr val="3A3A3A"/>
                </a:solidFill>
                <a:latin typeface="Arial MT"/>
                <a:cs typeface="Arial MT"/>
              </a:rPr>
              <a:t>Influential</a:t>
            </a:r>
            <a:r>
              <a:rPr dirty="0" sz="2550" spc="2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2550" spc="45">
                <a:solidFill>
                  <a:srgbClr val="2E2E2E"/>
                </a:solidFill>
                <a:latin typeface="Arial MT"/>
                <a:cs typeface="Arial MT"/>
              </a:rPr>
              <a:t>Factors:</a:t>
            </a:r>
            <a:r>
              <a:rPr dirty="0" sz="2550" spc="60">
                <a:solidFill>
                  <a:srgbClr val="2E2E2E"/>
                </a:solidFill>
                <a:latin typeface="Arial MT"/>
                <a:cs typeface="Arial MT"/>
              </a:rPr>
              <a:t> </a:t>
            </a:r>
            <a:r>
              <a:rPr dirty="0" sz="2550" spc="55">
                <a:solidFill>
                  <a:srgbClr val="2E2E2E"/>
                </a:solidFill>
                <a:latin typeface="Arial MT"/>
                <a:cs typeface="Arial MT"/>
              </a:rPr>
              <a:t>Determine</a:t>
            </a:r>
            <a:r>
              <a:rPr dirty="0" sz="2550" spc="120">
                <a:solidFill>
                  <a:srgbClr val="2E2E2E"/>
                </a:solidFill>
                <a:latin typeface="Arial MT"/>
                <a:cs typeface="Arial MT"/>
              </a:rPr>
              <a:t> </a:t>
            </a:r>
            <a:r>
              <a:rPr dirty="0" sz="2550" spc="65">
                <a:solidFill>
                  <a:srgbClr val="3C3C3C"/>
                </a:solidFill>
                <a:latin typeface="Arial MT"/>
                <a:cs typeface="Arial MT"/>
              </a:rPr>
              <a:t>key</a:t>
            </a:r>
            <a:r>
              <a:rPr dirty="0" sz="2550" spc="110">
                <a:solidFill>
                  <a:srgbClr val="3C3C3C"/>
                </a:solidFill>
                <a:latin typeface="Arial MT"/>
                <a:cs typeface="Arial MT"/>
              </a:rPr>
              <a:t> </a:t>
            </a:r>
            <a:r>
              <a:rPr dirty="0" sz="2550" spc="50">
                <a:solidFill>
                  <a:srgbClr val="2E2E2E"/>
                </a:solidFill>
                <a:latin typeface="Arial MT"/>
                <a:cs typeface="Arial MT"/>
              </a:rPr>
              <a:t>elements</a:t>
            </a:r>
            <a:r>
              <a:rPr dirty="0" sz="2550" spc="135">
                <a:solidFill>
                  <a:srgbClr val="2E2E2E"/>
                </a:solidFill>
                <a:latin typeface="Arial MT"/>
                <a:cs typeface="Arial MT"/>
              </a:rPr>
              <a:t> </a:t>
            </a:r>
            <a:r>
              <a:rPr dirty="0" sz="2550" spc="45">
                <a:solidFill>
                  <a:srgbClr val="3A3A3A"/>
                </a:solidFill>
                <a:latin typeface="Arial MT"/>
                <a:cs typeface="Arial MT"/>
              </a:rPr>
              <a:t>affecting</a:t>
            </a:r>
            <a:r>
              <a:rPr dirty="0" sz="2550" spc="12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2550" spc="55">
                <a:solidFill>
                  <a:srgbClr val="383838"/>
                </a:solidFill>
                <a:latin typeface="Arial MT"/>
                <a:cs typeface="Arial MT"/>
              </a:rPr>
              <a:t>customer</a:t>
            </a:r>
            <a:r>
              <a:rPr dirty="0" sz="2550" spc="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2550" spc="55">
                <a:solidFill>
                  <a:srgbClr val="383838"/>
                </a:solidFill>
                <a:latin typeface="Arial MT"/>
                <a:cs typeface="Arial MT"/>
              </a:rPr>
              <a:t>choice</a:t>
            </a:r>
            <a:r>
              <a:rPr dirty="0" sz="2550" spc="1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3C3C3C"/>
                </a:solidFill>
                <a:latin typeface="Arial MT"/>
                <a:cs typeface="Arial MT"/>
              </a:rPr>
              <a:t>in</a:t>
            </a:r>
            <a:r>
              <a:rPr dirty="0" sz="2550" spc="50">
                <a:solidFill>
                  <a:srgbClr val="3C3C3C"/>
                </a:solidFill>
                <a:latin typeface="Arial MT"/>
                <a:cs typeface="Arial MT"/>
              </a:rPr>
              <a:t> </a:t>
            </a:r>
            <a:r>
              <a:rPr dirty="0" sz="2550" spc="50">
                <a:solidFill>
                  <a:srgbClr val="2E2E2E"/>
                </a:solidFill>
                <a:latin typeface="Arial MT"/>
                <a:cs typeface="Arial MT"/>
              </a:rPr>
              <a:t>personal</a:t>
            </a:r>
            <a:r>
              <a:rPr dirty="0" sz="2550" spc="120">
                <a:solidFill>
                  <a:srgbClr val="2E2E2E"/>
                </a:solidFill>
                <a:latin typeface="Arial MT"/>
                <a:cs typeface="Arial MT"/>
              </a:rPr>
              <a:t> </a:t>
            </a:r>
            <a:r>
              <a:rPr dirty="0" sz="2550" spc="40">
                <a:solidFill>
                  <a:srgbClr val="383838"/>
                </a:solidFill>
                <a:latin typeface="Arial MT"/>
                <a:cs typeface="Arial MT"/>
              </a:rPr>
              <a:t>loans.</a:t>
            </a:r>
            <a:endParaRPr sz="2550">
              <a:latin typeface="Arial MT"/>
              <a:cs typeface="Arial MT"/>
            </a:endParaRPr>
          </a:p>
          <a:p>
            <a:pPr marL="12700" marR="1970405">
              <a:lnSpc>
                <a:spcPct val="218900"/>
              </a:lnSpc>
              <a:tabLst>
                <a:tab pos="734695" algn="l"/>
              </a:tabLst>
            </a:pPr>
            <a:r>
              <a:rPr dirty="0" sz="2550" spc="50">
                <a:solidFill>
                  <a:srgbClr val="173A8E"/>
                </a:solidFill>
                <a:latin typeface="Arial MT"/>
                <a:cs typeface="Arial MT"/>
              </a:rPr>
              <a:t>@</a:t>
            </a:r>
            <a:r>
              <a:rPr dirty="0" sz="2550">
                <a:solidFill>
                  <a:srgbClr val="173A8E"/>
                </a:solidFill>
                <a:latin typeface="Arial MT"/>
                <a:cs typeface="Arial MT"/>
              </a:rPr>
              <a:t>	</a:t>
            </a:r>
            <a:r>
              <a:rPr dirty="0" sz="2550" spc="55">
                <a:solidFill>
                  <a:srgbClr val="2E2E2E"/>
                </a:solidFill>
                <a:latin typeface="Arial MT"/>
                <a:cs typeface="Arial MT"/>
              </a:rPr>
              <a:t>Data</a:t>
            </a:r>
            <a:r>
              <a:rPr dirty="0" sz="2550" spc="-130">
                <a:solidFill>
                  <a:srgbClr val="2E2E2E"/>
                </a:solidFill>
                <a:latin typeface="Arial MT"/>
                <a:cs typeface="Arial MT"/>
              </a:rPr>
              <a:t> </a:t>
            </a:r>
            <a:r>
              <a:rPr dirty="0" sz="2550" spc="45">
                <a:solidFill>
                  <a:srgbClr val="363636"/>
                </a:solidFill>
                <a:latin typeface="Arial MT"/>
                <a:cs typeface="Arial MT"/>
              </a:rPr>
              <a:t>Collection:</a:t>
            </a:r>
            <a:r>
              <a:rPr dirty="0" sz="2550" spc="8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2550" spc="55">
                <a:solidFill>
                  <a:srgbClr val="303030"/>
                </a:solidFill>
                <a:latin typeface="Arial MT"/>
                <a:cs typeface="Arial MT"/>
              </a:rPr>
              <a:t>Gather</a:t>
            </a:r>
            <a:r>
              <a:rPr dirty="0" sz="2550" spc="60">
                <a:solidFill>
                  <a:srgbClr val="303030"/>
                </a:solidFill>
                <a:latin typeface="Arial MT"/>
                <a:cs typeface="Arial MT"/>
              </a:rPr>
              <a:t> </a:t>
            </a:r>
            <a:r>
              <a:rPr dirty="0" sz="2550" spc="55">
                <a:solidFill>
                  <a:srgbClr val="343434"/>
                </a:solidFill>
                <a:latin typeface="Arial MT"/>
                <a:cs typeface="Arial MT"/>
              </a:rPr>
              <a:t>preference</a:t>
            </a:r>
            <a:r>
              <a:rPr dirty="0" sz="2550" spc="7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2550" spc="50">
                <a:solidFill>
                  <a:srgbClr val="173C61"/>
                </a:solidFill>
                <a:latin typeface="Arial MT"/>
                <a:cs typeface="Arial MT"/>
              </a:rPr>
              <a:t>data</a:t>
            </a:r>
            <a:r>
              <a:rPr dirty="0" sz="2550" spc="20">
                <a:solidFill>
                  <a:srgbClr val="173C61"/>
                </a:solidFill>
                <a:latin typeface="Arial MT"/>
                <a:cs typeface="Arial MT"/>
              </a:rPr>
              <a:t> </a:t>
            </a:r>
            <a:r>
              <a:rPr dirty="0" sz="2550" spc="55">
                <a:solidFill>
                  <a:srgbClr val="282828"/>
                </a:solidFill>
                <a:latin typeface="Arial MT"/>
                <a:cs typeface="Arial MT"/>
              </a:rPr>
              <a:t>through</a:t>
            </a:r>
            <a:r>
              <a:rPr dirty="0" sz="2550" spc="45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2550" spc="50">
                <a:solidFill>
                  <a:srgbClr val="282828"/>
                </a:solidFill>
                <a:latin typeface="Arial MT"/>
                <a:cs typeface="Arial MT"/>
              </a:rPr>
              <a:t>structured</a:t>
            </a:r>
            <a:r>
              <a:rPr dirty="0" sz="2550" spc="9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2550" spc="55">
                <a:solidFill>
                  <a:srgbClr val="303030"/>
                </a:solidFill>
                <a:latin typeface="Arial MT"/>
                <a:cs typeface="Arial MT"/>
              </a:rPr>
              <a:t>questionnaires</a:t>
            </a:r>
            <a:r>
              <a:rPr dirty="0" sz="2550" spc="70">
                <a:solidFill>
                  <a:srgbClr val="303030"/>
                </a:solidFill>
                <a:latin typeface="Arial MT"/>
                <a:cs typeface="Arial MT"/>
              </a:rPr>
              <a:t> </a:t>
            </a:r>
            <a:r>
              <a:rPr dirty="0" sz="2550" spc="60">
                <a:solidFill>
                  <a:srgbClr val="363636"/>
                </a:solidFill>
                <a:latin typeface="Arial MT"/>
                <a:cs typeface="Arial MT"/>
              </a:rPr>
              <a:t>and</a:t>
            </a:r>
            <a:r>
              <a:rPr dirty="0" sz="2550" spc="35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2550" spc="55">
                <a:solidFill>
                  <a:srgbClr val="303030"/>
                </a:solidFill>
                <a:latin typeface="Arial MT"/>
                <a:cs typeface="Arial MT"/>
              </a:rPr>
              <a:t>survey</a:t>
            </a:r>
            <a:r>
              <a:rPr dirty="0" sz="2550" spc="65">
                <a:solidFill>
                  <a:srgbClr val="303030"/>
                </a:solidFill>
                <a:latin typeface="Arial MT"/>
                <a:cs typeface="Arial MT"/>
              </a:rPr>
              <a:t> </a:t>
            </a:r>
            <a:r>
              <a:rPr dirty="0" sz="2550" spc="45">
                <a:solidFill>
                  <a:srgbClr val="2C2C2C"/>
                </a:solidFill>
                <a:latin typeface="Arial MT"/>
                <a:cs typeface="Arial MT"/>
              </a:rPr>
              <a:t>responses. </a:t>
            </a:r>
            <a:r>
              <a:rPr dirty="0" sz="2550" spc="50">
                <a:solidFill>
                  <a:srgbClr val="1C3A86"/>
                </a:solidFill>
                <a:latin typeface="Arial MT"/>
                <a:cs typeface="Arial MT"/>
              </a:rPr>
              <a:t>@</a:t>
            </a:r>
            <a:r>
              <a:rPr dirty="0" sz="2550">
                <a:solidFill>
                  <a:srgbClr val="1C3A86"/>
                </a:solidFill>
                <a:latin typeface="Arial MT"/>
                <a:cs typeface="Arial MT"/>
              </a:rPr>
              <a:t>	</a:t>
            </a:r>
            <a:r>
              <a:rPr dirty="0" sz="2550" spc="50">
                <a:solidFill>
                  <a:srgbClr val="383838"/>
                </a:solidFill>
                <a:latin typeface="Arial MT"/>
                <a:cs typeface="Arial MT"/>
              </a:rPr>
              <a:t>Predictive</a:t>
            </a:r>
            <a:r>
              <a:rPr dirty="0" sz="2550" spc="1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2550" spc="50">
                <a:solidFill>
                  <a:srgbClr val="303030"/>
                </a:solidFill>
                <a:latin typeface="Arial MT"/>
                <a:cs typeface="Arial MT"/>
              </a:rPr>
              <a:t>Modeling:</a:t>
            </a:r>
            <a:r>
              <a:rPr dirty="0" sz="2550" spc="190">
                <a:solidFill>
                  <a:srgbClr val="303030"/>
                </a:solidFill>
                <a:latin typeface="Arial MT"/>
                <a:cs typeface="Arial MT"/>
              </a:rPr>
              <a:t> </a:t>
            </a:r>
            <a:r>
              <a:rPr dirty="0" sz="2550" spc="55">
                <a:solidFill>
                  <a:srgbClr val="252525"/>
                </a:solidFill>
                <a:latin typeface="Arial MT"/>
                <a:cs typeface="Arial MT"/>
              </a:rPr>
              <a:t>Convert</a:t>
            </a:r>
            <a:r>
              <a:rPr dirty="0" sz="2550" spc="405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dirty="0" sz="2550" spc="55">
                <a:solidFill>
                  <a:srgbClr val="303030"/>
                </a:solidFill>
                <a:latin typeface="Arial MT"/>
                <a:cs typeface="Arial MT"/>
              </a:rPr>
              <a:t>survey</a:t>
            </a:r>
            <a:r>
              <a:rPr dirty="0" sz="2550" spc="185">
                <a:solidFill>
                  <a:srgbClr val="303030"/>
                </a:solidFill>
                <a:latin typeface="Arial MT"/>
                <a:cs typeface="Arial MT"/>
              </a:rPr>
              <a:t> </a:t>
            </a:r>
            <a:r>
              <a:rPr dirty="0" sz="2550" spc="50">
                <a:solidFill>
                  <a:srgbClr val="2E3E5B"/>
                </a:solidFill>
                <a:latin typeface="Arial MT"/>
                <a:cs typeface="Arial MT"/>
              </a:rPr>
              <a:t>data</a:t>
            </a:r>
            <a:r>
              <a:rPr dirty="0" sz="2550" spc="185">
                <a:solidFill>
                  <a:srgbClr val="2E3E5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3C3C3C"/>
                </a:solidFill>
                <a:latin typeface="Arial MT"/>
                <a:cs typeface="Arial MT"/>
              </a:rPr>
              <a:t>into</a:t>
            </a:r>
            <a:r>
              <a:rPr dirty="0" sz="2550" spc="185">
                <a:solidFill>
                  <a:srgbClr val="3C3C3C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334869"/>
                </a:solidFill>
                <a:latin typeface="Arial MT"/>
                <a:cs typeface="Arial MT"/>
              </a:rPr>
              <a:t>binary</a:t>
            </a:r>
            <a:r>
              <a:rPr dirty="0" sz="2550" spc="200">
                <a:solidFill>
                  <a:srgbClr val="334869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393939"/>
                </a:solidFill>
                <a:latin typeface="Arial MT"/>
                <a:cs typeface="Arial MT"/>
              </a:rPr>
              <a:t>format</a:t>
            </a:r>
            <a:r>
              <a:rPr dirty="0" sz="2550" spc="165">
                <a:solidFill>
                  <a:srgbClr val="393939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3A3A3A"/>
                </a:solidFill>
                <a:latin typeface="Arial MT"/>
                <a:cs typeface="Arial MT"/>
              </a:rPr>
              <a:t>for</a:t>
            </a:r>
            <a:r>
              <a:rPr dirty="0" sz="2550" spc="16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2550" spc="65">
                <a:solidFill>
                  <a:srgbClr val="363636"/>
                </a:solidFill>
                <a:latin typeface="Arial MT"/>
                <a:cs typeface="Arial MT"/>
              </a:rPr>
              <a:t>advanced</a:t>
            </a:r>
            <a:r>
              <a:rPr dirty="0" sz="2550" spc="19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282828"/>
                </a:solidFill>
                <a:latin typeface="Arial MT"/>
                <a:cs typeface="Arial MT"/>
              </a:rPr>
              <a:t>predictive</a:t>
            </a:r>
            <a:r>
              <a:rPr dirty="0" sz="2550" spc="415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2550" spc="40">
                <a:solidFill>
                  <a:srgbClr val="343434"/>
                </a:solidFill>
                <a:latin typeface="Arial MT"/>
                <a:cs typeface="Arial MT"/>
              </a:rPr>
              <a:t>analytics.</a:t>
            </a:r>
            <a:endParaRPr sz="2550">
              <a:latin typeface="Arial MT"/>
              <a:cs typeface="Arial MT"/>
            </a:endParaRPr>
          </a:p>
          <a:p>
            <a:pPr marL="12700" marR="5080">
              <a:lnSpc>
                <a:spcPts val="6700"/>
              </a:lnSpc>
              <a:spcBef>
                <a:spcPts val="605"/>
              </a:spcBef>
              <a:tabLst>
                <a:tab pos="732155" algn="l"/>
              </a:tabLst>
            </a:pPr>
            <a:r>
              <a:rPr dirty="0" sz="2550" spc="50">
                <a:solidFill>
                  <a:srgbClr val="173A91"/>
                </a:solidFill>
                <a:latin typeface="Arial MT"/>
                <a:cs typeface="Arial MT"/>
              </a:rPr>
              <a:t>@</a:t>
            </a:r>
            <a:r>
              <a:rPr dirty="0" sz="2550">
                <a:solidFill>
                  <a:srgbClr val="173A91"/>
                </a:solidFill>
                <a:latin typeface="Arial MT"/>
                <a:cs typeface="Arial MT"/>
              </a:rPr>
              <a:t>	</a:t>
            </a:r>
            <a:r>
              <a:rPr dirty="0" sz="2550" spc="55">
                <a:solidFill>
                  <a:srgbClr val="2C4152"/>
                </a:solidFill>
                <a:latin typeface="Arial MT"/>
                <a:cs typeface="Arial MT"/>
              </a:rPr>
              <a:t>Product</a:t>
            </a:r>
            <a:r>
              <a:rPr dirty="0" sz="2550" spc="5">
                <a:solidFill>
                  <a:srgbClr val="2C4152"/>
                </a:solidFill>
                <a:latin typeface="Arial MT"/>
                <a:cs typeface="Arial MT"/>
              </a:rPr>
              <a:t> </a:t>
            </a:r>
            <a:r>
              <a:rPr dirty="0" sz="2550" spc="50">
                <a:solidFill>
                  <a:srgbClr val="2E2E2E"/>
                </a:solidFill>
                <a:latin typeface="Arial MT"/>
                <a:cs typeface="Arial MT"/>
              </a:rPr>
              <a:t>Optimization:</a:t>
            </a:r>
            <a:r>
              <a:rPr dirty="0" sz="2550" spc="65">
                <a:solidFill>
                  <a:srgbClr val="2E2E2E"/>
                </a:solidFill>
                <a:latin typeface="Arial MT"/>
                <a:cs typeface="Arial MT"/>
              </a:rPr>
              <a:t> </a:t>
            </a:r>
            <a:r>
              <a:rPr dirty="0" sz="2550" spc="60">
                <a:solidFill>
                  <a:srgbClr val="2E2E2E"/>
                </a:solidFill>
                <a:latin typeface="Arial MT"/>
                <a:cs typeface="Arial MT"/>
              </a:rPr>
              <a:t>Develop</a:t>
            </a:r>
            <a:r>
              <a:rPr dirty="0" sz="2550" spc="120">
                <a:solidFill>
                  <a:srgbClr val="2E2E2E"/>
                </a:solidFill>
                <a:latin typeface="Arial MT"/>
                <a:cs typeface="Arial MT"/>
              </a:rPr>
              <a:t> </a:t>
            </a:r>
            <a:r>
              <a:rPr dirty="0" sz="2550" spc="45">
                <a:solidFill>
                  <a:srgbClr val="343434"/>
                </a:solidFill>
                <a:latin typeface="Arial MT"/>
                <a:cs typeface="Arial MT"/>
              </a:rPr>
              <a:t>strategy</a:t>
            </a:r>
            <a:r>
              <a:rPr dirty="0" sz="2550" spc="95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2550" spc="60">
                <a:solidFill>
                  <a:srgbClr val="363636"/>
                </a:solidFill>
                <a:latin typeface="Arial MT"/>
                <a:cs typeface="Arial MT"/>
              </a:rPr>
              <a:t>recommendations</a:t>
            </a:r>
            <a:r>
              <a:rPr dirty="0" sz="2550" spc="1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343434"/>
                </a:solidFill>
                <a:latin typeface="Arial MT"/>
                <a:cs typeface="Arial MT"/>
              </a:rPr>
              <a:t>for</a:t>
            </a:r>
            <a:r>
              <a:rPr dirty="0" sz="2550" spc="7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2550" spc="50">
                <a:solidFill>
                  <a:srgbClr val="363636"/>
                </a:solidFill>
                <a:latin typeface="Arial MT"/>
                <a:cs typeface="Arial MT"/>
              </a:rPr>
              <a:t>improving</a:t>
            </a:r>
            <a:r>
              <a:rPr dirty="0" sz="2550" spc="7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2550" spc="60">
                <a:solidFill>
                  <a:srgbClr val="343434"/>
                </a:solidFill>
                <a:latin typeface="Arial MT"/>
                <a:cs typeface="Arial MT"/>
              </a:rPr>
              <a:t>customer</a:t>
            </a:r>
            <a:r>
              <a:rPr dirty="0" sz="2550" spc="28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2550" spc="50">
                <a:solidFill>
                  <a:srgbClr val="343434"/>
                </a:solidFill>
                <a:latin typeface="Arial MT"/>
                <a:cs typeface="Arial MT"/>
              </a:rPr>
              <a:t>satisfaction</a:t>
            </a:r>
            <a:r>
              <a:rPr dirty="0" sz="2550" spc="95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2550" spc="60">
                <a:solidFill>
                  <a:srgbClr val="233E5B"/>
                </a:solidFill>
                <a:latin typeface="Arial MT"/>
                <a:cs typeface="Arial MT"/>
              </a:rPr>
              <a:t>and</a:t>
            </a:r>
            <a:r>
              <a:rPr dirty="0" sz="2550" spc="-55">
                <a:solidFill>
                  <a:srgbClr val="233E5B"/>
                </a:solidFill>
                <a:latin typeface="Arial MT"/>
                <a:cs typeface="Arial MT"/>
              </a:rPr>
              <a:t> </a:t>
            </a:r>
            <a:r>
              <a:rPr dirty="0" sz="2550" spc="45">
                <a:solidFill>
                  <a:srgbClr val="343434"/>
                </a:solidFill>
                <a:latin typeface="Arial MT"/>
                <a:cs typeface="Arial MT"/>
              </a:rPr>
              <a:t>acceptance. </a:t>
            </a:r>
            <a:r>
              <a:rPr dirty="0" sz="2550" spc="50">
                <a:solidFill>
                  <a:srgbClr val="1C3A86"/>
                </a:solidFill>
                <a:latin typeface="Arial MT"/>
                <a:cs typeface="Arial MT"/>
              </a:rPr>
              <a:t>@</a:t>
            </a:r>
            <a:r>
              <a:rPr dirty="0" sz="2550">
                <a:solidFill>
                  <a:srgbClr val="1C3A86"/>
                </a:solidFill>
                <a:latin typeface="Arial MT"/>
                <a:cs typeface="Arial MT"/>
              </a:rPr>
              <a:t>	</a:t>
            </a:r>
            <a:r>
              <a:rPr dirty="0" sz="2550" spc="60">
                <a:solidFill>
                  <a:srgbClr val="3E3E3E"/>
                </a:solidFill>
                <a:latin typeface="Arial MT"/>
                <a:cs typeface="Arial MT"/>
              </a:rPr>
              <a:t>Hands-on</a:t>
            </a:r>
            <a:r>
              <a:rPr dirty="0" sz="2550" spc="75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3A3A3A"/>
                </a:solidFill>
                <a:latin typeface="Arial MT"/>
                <a:cs typeface="Arial MT"/>
              </a:rPr>
              <a:t>Training:</a:t>
            </a:r>
            <a:r>
              <a:rPr dirty="0" sz="2550" spc="15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2550" spc="55">
                <a:solidFill>
                  <a:srgbClr val="3C3C3C"/>
                </a:solidFill>
                <a:latin typeface="Arial MT"/>
                <a:cs typeface="Arial MT"/>
              </a:rPr>
              <a:t>Gain</a:t>
            </a:r>
            <a:r>
              <a:rPr dirty="0" sz="2550" spc="204">
                <a:solidFill>
                  <a:srgbClr val="3C3C3C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363636"/>
                </a:solidFill>
                <a:latin typeface="Arial MT"/>
                <a:cs typeface="Arial MT"/>
              </a:rPr>
              <a:t>practical</a:t>
            </a:r>
            <a:r>
              <a:rPr dirty="0" sz="2550" spc="21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2550" spc="55">
                <a:solidFill>
                  <a:srgbClr val="2E2E2E"/>
                </a:solidFill>
                <a:latin typeface="Arial MT"/>
                <a:cs typeface="Arial MT"/>
              </a:rPr>
              <a:t>experience</a:t>
            </a:r>
            <a:r>
              <a:rPr dirty="0" sz="2550" spc="215">
                <a:solidFill>
                  <a:srgbClr val="2E2E2E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3E3E3E"/>
                </a:solidFill>
                <a:latin typeface="Arial MT"/>
                <a:cs typeface="Arial MT"/>
              </a:rPr>
              <a:t>in</a:t>
            </a:r>
            <a:r>
              <a:rPr dirty="0" sz="2550" spc="14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343434"/>
                </a:solidFill>
                <a:latin typeface="Arial MT"/>
                <a:cs typeface="Arial MT"/>
              </a:rPr>
              <a:t>statistical</a:t>
            </a:r>
            <a:r>
              <a:rPr dirty="0" sz="2550" spc="18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2550" spc="45">
                <a:solidFill>
                  <a:srgbClr val="343434"/>
                </a:solidFill>
                <a:latin typeface="Arial MT"/>
                <a:cs typeface="Arial MT"/>
              </a:rPr>
              <a:t>software</a:t>
            </a:r>
            <a:r>
              <a:rPr dirty="0" sz="2550" spc="235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2550" spc="60">
                <a:solidFill>
                  <a:srgbClr val="414141"/>
                </a:solidFill>
                <a:latin typeface="Arial MT"/>
                <a:cs typeface="Arial MT"/>
              </a:rPr>
              <a:t>and</a:t>
            </a:r>
            <a:r>
              <a:rPr dirty="0" sz="2550" spc="15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550" spc="45">
                <a:solidFill>
                  <a:srgbClr val="363636"/>
                </a:solidFill>
                <a:latin typeface="Arial MT"/>
                <a:cs typeface="Arial MT"/>
              </a:rPr>
              <a:t>financial</a:t>
            </a:r>
            <a:r>
              <a:rPr dirty="0" sz="2550" spc="22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2550" spc="50">
                <a:solidFill>
                  <a:srgbClr val="3A3A3A"/>
                </a:solidFill>
                <a:latin typeface="Arial MT"/>
                <a:cs typeface="Arial MT"/>
              </a:rPr>
              <a:t>service</a:t>
            </a:r>
            <a:r>
              <a:rPr dirty="0" sz="2550" spc="204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2550" spc="40">
                <a:solidFill>
                  <a:srgbClr val="363636"/>
                </a:solidFill>
                <a:latin typeface="Arial MT"/>
                <a:cs typeface="Arial MT"/>
              </a:rPr>
              <a:t>analysis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0371" y="2593858"/>
            <a:ext cx="5342890" cy="9480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50" b="0">
                <a:solidFill>
                  <a:srgbClr val="282828"/>
                </a:solidFill>
                <a:latin typeface="Times New Roman"/>
                <a:cs typeface="Times New Roman"/>
              </a:rPr>
              <a:t>Phase</a:t>
            </a:r>
            <a:r>
              <a:rPr dirty="0" sz="6050" spc="225" b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6050" b="0">
                <a:solidFill>
                  <a:srgbClr val="2A2A2A"/>
                </a:solidFill>
                <a:latin typeface="Times New Roman"/>
                <a:cs typeface="Times New Roman"/>
              </a:rPr>
              <a:t>1</a:t>
            </a:r>
            <a:r>
              <a:rPr dirty="0" sz="6050" spc="335" b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dirty="0" sz="6050" spc="-10" b="0">
                <a:solidFill>
                  <a:srgbClr val="252525"/>
                </a:solidFill>
                <a:latin typeface="Times New Roman"/>
                <a:cs typeface="Times New Roman"/>
              </a:rPr>
              <a:t>Findings</a:t>
            </a:r>
            <a:endParaRPr sz="60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6060" y="4560708"/>
            <a:ext cx="8607425" cy="39503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90"/>
              </a:spcBef>
            </a:pPr>
            <a:r>
              <a:rPr dirty="0" sz="2550">
                <a:solidFill>
                  <a:srgbClr val="1F3A8B"/>
                </a:solidFill>
                <a:latin typeface="Times New Roman"/>
                <a:cs typeface="Times New Roman"/>
              </a:rPr>
              <a:t>Influential</a:t>
            </a:r>
            <a:r>
              <a:rPr dirty="0" sz="2550" spc="-5">
                <a:solidFill>
                  <a:srgbClr val="1F3A8B"/>
                </a:solidFill>
                <a:latin typeface="Times New Roman"/>
                <a:cs typeface="Times New Roman"/>
              </a:rPr>
              <a:t> </a:t>
            </a:r>
            <a:r>
              <a:rPr dirty="0" sz="2550" spc="-10">
                <a:solidFill>
                  <a:srgbClr val="1C3C91"/>
                </a:solidFill>
                <a:latin typeface="Times New Roman"/>
                <a:cs typeface="Times New Roman"/>
              </a:rPr>
              <a:t>Attributes</a:t>
            </a:r>
            <a:endParaRPr sz="2550">
              <a:latin typeface="Times New Roman"/>
              <a:cs typeface="Times New Roman"/>
            </a:endParaRPr>
          </a:p>
          <a:p>
            <a:pPr marL="18415">
              <a:lnSpc>
                <a:spcPts val="2520"/>
              </a:lnSpc>
              <a:spcBef>
                <a:spcPts val="2405"/>
              </a:spcBef>
            </a:pPr>
            <a:r>
              <a:rPr dirty="0" sz="2200" spc="-10">
                <a:latin typeface="Arial MT"/>
                <a:cs typeface="Arial MT"/>
              </a:rPr>
              <a:t>The</a:t>
            </a:r>
            <a:r>
              <a:rPr dirty="0" sz="2200" spc="-15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analysis</a:t>
            </a:r>
            <a:r>
              <a:rPr dirty="0" sz="2200" spc="-12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yielded</a:t>
            </a:r>
            <a:r>
              <a:rPr dirty="0" sz="2200" spc="-12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Test</a:t>
            </a:r>
            <a:r>
              <a:rPr dirty="0" sz="2200" spc="-13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Statistic</a:t>
            </a:r>
            <a:r>
              <a:rPr dirty="0" sz="2200" spc="-140"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00001D"/>
                </a:solidFill>
                <a:latin typeface="Arial MT"/>
                <a:cs typeface="Arial MT"/>
              </a:rPr>
              <a:t>of</a:t>
            </a:r>
            <a:r>
              <a:rPr dirty="0" sz="2200" spc="-114">
                <a:solidFill>
                  <a:srgbClr val="00001D"/>
                </a:solidFill>
                <a:latin typeface="Arial MT"/>
                <a:cs typeface="Arial MT"/>
              </a:rPr>
              <a:t> </a:t>
            </a:r>
            <a:r>
              <a:rPr dirty="0" sz="2200" spc="-10" b="1">
                <a:latin typeface="Arial"/>
                <a:cs typeface="Arial"/>
              </a:rPr>
              <a:t>54.746</a:t>
            </a:r>
            <a:r>
              <a:rPr dirty="0" sz="2200" spc="-130" b="1">
                <a:latin typeface="Arial"/>
                <a:cs typeface="Arial"/>
              </a:rPr>
              <a:t> </a:t>
            </a:r>
            <a:r>
              <a:rPr dirty="0" sz="2200" spc="-10">
                <a:latin typeface="Arial MT"/>
                <a:cs typeface="Arial MT"/>
              </a:rPr>
              <a:t>and</a:t>
            </a:r>
            <a:r>
              <a:rPr dirty="0" sz="2200" spc="-1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P-Value</a:t>
            </a:r>
            <a:r>
              <a:rPr dirty="0" sz="2200" spc="-155"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000028"/>
                </a:solidFill>
                <a:latin typeface="Arial MT"/>
                <a:cs typeface="Arial MT"/>
              </a:rPr>
              <a:t>of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ts val="2520"/>
              </a:lnSpc>
            </a:pPr>
            <a:r>
              <a:rPr dirty="0" sz="2200" spc="-20" b="1">
                <a:latin typeface="Arial"/>
                <a:cs typeface="Arial"/>
              </a:rPr>
              <a:t>0.00000</a:t>
            </a:r>
            <a:r>
              <a:rPr dirty="0" sz="2200" spc="-20">
                <a:latin typeface="Arial MT"/>
                <a:cs typeface="Arial MT"/>
              </a:rPr>
              <a:t>,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indicating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highly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significant</a:t>
            </a:r>
            <a:r>
              <a:rPr dirty="0" sz="2200" spc="-1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variation</a:t>
            </a:r>
            <a:r>
              <a:rPr dirty="0" sz="2200" spc="-15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in</a:t>
            </a:r>
            <a:r>
              <a:rPr dirty="0" sz="2200" spc="-15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customer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preferences.</a:t>
            </a:r>
            <a:endParaRPr sz="2200">
              <a:latin typeface="Arial MT"/>
              <a:cs typeface="Arial MT"/>
            </a:endParaRPr>
          </a:p>
          <a:p>
            <a:pPr marL="722630" marR="1038225" indent="8890">
              <a:lnSpc>
                <a:spcPct val="216600"/>
              </a:lnSpc>
              <a:spcBef>
                <a:spcPts val="450"/>
              </a:spcBef>
            </a:pPr>
            <a:r>
              <a:rPr dirty="0" sz="2550" spc="60">
                <a:solidFill>
                  <a:srgbClr val="383838"/>
                </a:solidFill>
                <a:latin typeface="Arial MT"/>
                <a:cs typeface="Arial MT"/>
              </a:rPr>
              <a:t>Assurance</a:t>
            </a:r>
            <a:r>
              <a:rPr dirty="0" sz="2550" spc="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2550" spc="50">
                <a:solidFill>
                  <a:srgbClr val="414141"/>
                </a:solidFill>
                <a:latin typeface="Arial MT"/>
                <a:cs typeface="Arial MT"/>
              </a:rPr>
              <a:t>Level:</a:t>
            </a:r>
            <a:r>
              <a:rPr dirty="0" sz="2550" spc="-114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550" spc="70">
                <a:solidFill>
                  <a:srgbClr val="2E2E2E"/>
                </a:solidFill>
                <a:latin typeface="Arial MT"/>
                <a:cs typeface="Arial MT"/>
              </a:rPr>
              <a:t>100%</a:t>
            </a:r>
            <a:r>
              <a:rPr dirty="0" sz="2550" spc="95">
                <a:solidFill>
                  <a:srgbClr val="2E2E2E"/>
                </a:solidFill>
                <a:latin typeface="Arial MT"/>
                <a:cs typeface="Arial MT"/>
              </a:rPr>
              <a:t> </a:t>
            </a:r>
            <a:r>
              <a:rPr dirty="0" sz="2550" spc="55">
                <a:solidFill>
                  <a:srgbClr val="333333"/>
                </a:solidFill>
                <a:latin typeface="Arial MT"/>
                <a:cs typeface="Arial MT"/>
              </a:rPr>
              <a:t>confidence</a:t>
            </a:r>
            <a:r>
              <a:rPr dirty="0" sz="2550" spc="10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363636"/>
                </a:solidFill>
                <a:latin typeface="Arial MT"/>
                <a:cs typeface="Arial MT"/>
              </a:rPr>
              <a:t>in</a:t>
            </a:r>
            <a:r>
              <a:rPr dirty="0" sz="2550" spc="3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2550" spc="35">
                <a:solidFill>
                  <a:srgbClr val="343434"/>
                </a:solidFill>
                <a:latin typeface="Arial MT"/>
                <a:cs typeface="Arial MT"/>
              </a:rPr>
              <a:t>results. </a:t>
            </a:r>
            <a:r>
              <a:rPr dirty="0" sz="2550" spc="55">
                <a:solidFill>
                  <a:srgbClr val="3E3E3E"/>
                </a:solidFill>
                <a:latin typeface="Arial MT"/>
                <a:cs typeface="Arial MT"/>
              </a:rPr>
              <a:t>Top</a:t>
            </a:r>
            <a:r>
              <a:rPr dirty="0" sz="2550" spc="-8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363E61"/>
                </a:solidFill>
                <a:latin typeface="Arial MT"/>
                <a:cs typeface="Arial MT"/>
              </a:rPr>
              <a:t>Factor: </a:t>
            </a:r>
            <a:r>
              <a:rPr dirty="0" sz="2550" spc="55">
                <a:solidFill>
                  <a:srgbClr val="2C2C2C"/>
                </a:solidFill>
                <a:latin typeface="Arial MT"/>
                <a:cs typeface="Arial MT"/>
              </a:rPr>
              <a:t>Disbursal</a:t>
            </a:r>
            <a:r>
              <a:rPr dirty="0" sz="2550" spc="160">
                <a:solidFill>
                  <a:srgbClr val="2C2C2C"/>
                </a:solidFill>
                <a:latin typeface="Arial MT"/>
                <a:cs typeface="Arial MT"/>
              </a:rPr>
              <a:t> </a:t>
            </a:r>
            <a:r>
              <a:rPr dirty="0" sz="2550" spc="50">
                <a:solidFill>
                  <a:srgbClr val="3C3C3C"/>
                </a:solidFill>
                <a:latin typeface="Arial MT"/>
                <a:cs typeface="Arial MT"/>
              </a:rPr>
              <a:t>Time</a:t>
            </a:r>
            <a:r>
              <a:rPr dirty="0" sz="2550" spc="155">
                <a:solidFill>
                  <a:srgbClr val="3C3C3C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2E2E2E"/>
                </a:solidFill>
                <a:latin typeface="Arial MT"/>
                <a:cs typeface="Arial MT"/>
              </a:rPr>
              <a:t>(F2).</a:t>
            </a:r>
            <a:endParaRPr sz="2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2550">
              <a:latin typeface="Arial MT"/>
              <a:cs typeface="Arial MT"/>
            </a:endParaRPr>
          </a:p>
          <a:p>
            <a:pPr marL="725805">
              <a:lnSpc>
                <a:spcPct val="100000"/>
              </a:lnSpc>
            </a:pPr>
            <a:r>
              <a:rPr dirty="0" sz="2450" spc="55">
                <a:solidFill>
                  <a:srgbClr val="222A48"/>
                </a:solidFill>
                <a:latin typeface="Arial MT"/>
                <a:cs typeface="Arial MT"/>
              </a:rPr>
              <a:t>Key</a:t>
            </a:r>
            <a:r>
              <a:rPr dirty="0" sz="2450" spc="15">
                <a:solidFill>
                  <a:srgbClr val="222A48"/>
                </a:solidFill>
                <a:latin typeface="Arial MT"/>
                <a:cs typeface="Arial MT"/>
              </a:rPr>
              <a:t> </a:t>
            </a:r>
            <a:r>
              <a:rPr dirty="0" sz="2450" spc="55">
                <a:solidFill>
                  <a:srgbClr val="343434"/>
                </a:solidFill>
                <a:latin typeface="Arial MT"/>
                <a:cs typeface="Arial MT"/>
              </a:rPr>
              <a:t>Sequence:</a:t>
            </a:r>
            <a:r>
              <a:rPr dirty="0" sz="2450" spc="145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343434"/>
                </a:solidFill>
                <a:latin typeface="Arial MT"/>
                <a:cs typeface="Arial MT"/>
              </a:rPr>
              <a:t>F2,</a:t>
            </a:r>
            <a:r>
              <a:rPr dirty="0" sz="2450" spc="11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2450" spc="50">
                <a:solidFill>
                  <a:srgbClr val="343434"/>
                </a:solidFill>
                <a:latin typeface="Arial MT"/>
                <a:cs typeface="Arial MT"/>
              </a:rPr>
              <a:t>F5,</a:t>
            </a:r>
            <a:r>
              <a:rPr dirty="0" sz="2450" spc="14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393939"/>
                </a:solidFill>
                <a:latin typeface="Arial MT"/>
                <a:cs typeface="Arial MT"/>
              </a:rPr>
              <a:t>F3,</a:t>
            </a:r>
            <a:r>
              <a:rPr dirty="0" sz="2450" spc="114">
                <a:solidFill>
                  <a:srgbClr val="393939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3A3A3A"/>
                </a:solidFill>
                <a:latin typeface="Arial MT"/>
                <a:cs typeface="Arial MT"/>
              </a:rPr>
              <a:t>F6,</a:t>
            </a:r>
            <a:r>
              <a:rPr dirty="0" sz="2450" spc="14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2450" spc="50">
                <a:solidFill>
                  <a:srgbClr val="383838"/>
                </a:solidFill>
                <a:latin typeface="Arial MT"/>
                <a:cs typeface="Arial MT"/>
              </a:rPr>
              <a:t>F8,</a:t>
            </a:r>
            <a:r>
              <a:rPr dirty="0" sz="2450" spc="10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363636"/>
                </a:solidFill>
                <a:latin typeface="Arial MT"/>
                <a:cs typeface="Arial MT"/>
              </a:rPr>
              <a:t>F7.</a:t>
            </a:r>
            <a:endParaRPr sz="24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66707" y="1615399"/>
            <a:ext cx="8981212" cy="81684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50" spc="-110" b="0">
                <a:solidFill>
                  <a:srgbClr val="282828"/>
                </a:solidFill>
                <a:latin typeface="Cambria"/>
                <a:cs typeface="Cambria"/>
              </a:rPr>
              <a:t>Key</a:t>
            </a:r>
            <a:r>
              <a:rPr dirty="0" sz="6050" spc="-275" b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dirty="0" sz="6050" spc="-114" b="0">
                <a:solidFill>
                  <a:srgbClr val="232323"/>
                </a:solidFill>
                <a:latin typeface="Cambria"/>
                <a:cs typeface="Cambria"/>
              </a:rPr>
              <a:t>Loan</a:t>
            </a:r>
            <a:r>
              <a:rPr dirty="0" sz="6050" spc="-484" b="0">
                <a:solidFill>
                  <a:srgbClr val="232323"/>
                </a:solidFill>
                <a:latin typeface="Cambria"/>
                <a:cs typeface="Cambria"/>
              </a:rPr>
              <a:t> </a:t>
            </a:r>
            <a:r>
              <a:rPr dirty="0" sz="6050" spc="-100" b="0">
                <a:solidFill>
                  <a:srgbClr val="1C1C1C"/>
                </a:solidFill>
                <a:latin typeface="Cambria"/>
                <a:cs typeface="Cambria"/>
              </a:rPr>
              <a:t>Attributes</a:t>
            </a:r>
            <a:endParaRPr sz="6050">
              <a:latin typeface="Cambria"/>
              <a:cs typeface="Cambr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29639" y="3191935"/>
          <a:ext cx="18385790" cy="61283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4130"/>
                <a:gridCol w="4612640"/>
                <a:gridCol w="11132185"/>
              </a:tblGrid>
              <a:tr h="981710">
                <a:tc>
                  <a:txBody>
                    <a:bodyPr/>
                    <a:lstStyle/>
                    <a:p>
                      <a:pPr marL="326390">
                        <a:lnSpc>
                          <a:spcPct val="100000"/>
                        </a:lnSpc>
                        <a:spcBef>
                          <a:spcPts val="2210"/>
                        </a:spcBef>
                      </a:pPr>
                      <a:r>
                        <a:rPr dirty="0" sz="24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</a:t>
                      </a:r>
                      <a:r>
                        <a:rPr dirty="0" sz="2450" spc="3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5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2450">
                        <a:latin typeface="Calibri"/>
                        <a:cs typeface="Calibri"/>
                      </a:endParaRPr>
                    </a:p>
                  </a:txBody>
                  <a:tcPr marL="0" marR="0" marB="0" marT="280670">
                    <a:solidFill>
                      <a:srgbClr val="1D3988"/>
                    </a:solidFill>
                  </a:tcPr>
                </a:tc>
                <a:tc>
                  <a:txBody>
                    <a:bodyPr/>
                    <a:lstStyle/>
                    <a:p>
                      <a:pPr marL="864869">
                        <a:lnSpc>
                          <a:spcPct val="100000"/>
                        </a:lnSpc>
                        <a:spcBef>
                          <a:spcPts val="2210"/>
                        </a:spcBef>
                      </a:pPr>
                      <a:r>
                        <a:rPr dirty="0" sz="24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Attribute</a:t>
                      </a:r>
                      <a:r>
                        <a:rPr dirty="0" sz="2450" spc="1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5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2450">
                        <a:latin typeface="Calibri"/>
                        <a:cs typeface="Calibri"/>
                      </a:endParaRPr>
                    </a:p>
                  </a:txBody>
                  <a:tcPr marL="0" marR="0" marB="0" marT="280670">
                    <a:solidFill>
                      <a:srgbClr val="1D3988"/>
                    </a:solidFill>
                  </a:tcPr>
                </a:tc>
                <a:tc>
                  <a:txBody>
                    <a:bodyPr/>
                    <a:lstStyle/>
                    <a:p>
                      <a:pPr marL="1163320">
                        <a:lnSpc>
                          <a:spcPct val="100000"/>
                        </a:lnSpc>
                        <a:spcBef>
                          <a:spcPts val="2335"/>
                        </a:spcBef>
                      </a:pPr>
                      <a:r>
                        <a:rPr dirty="0" sz="2300" spc="114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B="0" marT="296545">
                    <a:solidFill>
                      <a:srgbClr val="1D3988"/>
                    </a:solidFill>
                  </a:tcPr>
                </a:tc>
              </a:tr>
              <a:tr h="879475">
                <a:tc>
                  <a:txBody>
                    <a:bodyPr/>
                    <a:lstStyle/>
                    <a:p>
                      <a:pPr marL="328930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dirty="0" sz="2450" spc="-25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219075"/>
                </a:tc>
                <a:tc>
                  <a:txBody>
                    <a:bodyPr/>
                    <a:lstStyle/>
                    <a:p>
                      <a:pPr marL="861694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dirty="0" sz="2450" spc="-50">
                          <a:solidFill>
                            <a:srgbClr val="484848"/>
                          </a:solidFill>
                          <a:latin typeface="Arial MT"/>
                          <a:cs typeface="Arial MT"/>
                        </a:rPr>
                        <a:t>Disbursal</a:t>
                      </a:r>
                      <a:r>
                        <a:rPr dirty="0" sz="2450" spc="-120">
                          <a:solidFill>
                            <a:srgbClr val="48484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20">
                          <a:solidFill>
                            <a:srgbClr val="4A4A4A"/>
                          </a:solidFill>
                          <a:latin typeface="Arial MT"/>
                          <a:cs typeface="Arial MT"/>
                        </a:rPr>
                        <a:t>Time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219075"/>
                </a:tc>
                <a:tc>
                  <a:txBody>
                    <a:bodyPr/>
                    <a:lstStyle/>
                    <a:p>
                      <a:pPr marL="1165860">
                        <a:lnSpc>
                          <a:spcPct val="100000"/>
                        </a:lnSpc>
                        <a:spcBef>
                          <a:spcPts val="1775"/>
                        </a:spcBef>
                      </a:pPr>
                      <a:r>
                        <a:rPr dirty="0" sz="2450" spc="-10">
                          <a:solidFill>
                            <a:srgbClr val="414141"/>
                          </a:solidFill>
                          <a:latin typeface="Arial MT"/>
                          <a:cs typeface="Arial MT"/>
                        </a:rPr>
                        <a:t>Speed</a:t>
                      </a:r>
                      <a:r>
                        <a:rPr dirty="0" sz="2450" spc="-110">
                          <a:solidFill>
                            <a:srgbClr val="41414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>
                          <a:solidFill>
                            <a:srgbClr val="4A4A4A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2450" spc="-85">
                          <a:solidFill>
                            <a:srgbClr val="4A4A4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20">
                          <a:solidFill>
                            <a:srgbClr val="4D4D4D"/>
                          </a:solidFill>
                          <a:latin typeface="Arial MT"/>
                          <a:cs typeface="Arial MT"/>
                        </a:rPr>
                        <a:t>fund</a:t>
                      </a:r>
                      <a:r>
                        <a:rPr dirty="0" sz="2450" spc="-170">
                          <a:solidFill>
                            <a:srgbClr val="4D4D4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>
                          <a:solidFill>
                            <a:srgbClr val="4A4A4A"/>
                          </a:solidFill>
                          <a:latin typeface="Arial MT"/>
                          <a:cs typeface="Arial MT"/>
                        </a:rPr>
                        <a:t>transfer</a:t>
                      </a:r>
                      <a:r>
                        <a:rPr dirty="0" sz="2450" spc="5">
                          <a:solidFill>
                            <a:srgbClr val="4A4A4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0">
                          <a:solidFill>
                            <a:srgbClr val="424242"/>
                          </a:solidFill>
                          <a:latin typeface="Arial MT"/>
                          <a:cs typeface="Arial MT"/>
                        </a:rPr>
                        <a:t>post-approval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225425"/>
                </a:tc>
              </a:tr>
              <a:tr h="902969">
                <a:tc>
                  <a:txBody>
                    <a:bodyPr/>
                    <a:lstStyle/>
                    <a:p>
                      <a:pPr marL="328930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dirty="0" sz="2450" spc="-25">
                          <a:solidFill>
                            <a:srgbClr val="484848"/>
                          </a:solidFill>
                          <a:latin typeface="Arial MT"/>
                          <a:cs typeface="Arial MT"/>
                        </a:rPr>
                        <a:t>F5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247650"/>
                </a:tc>
                <a:tc>
                  <a:txBody>
                    <a:bodyPr/>
                    <a:lstStyle/>
                    <a:p>
                      <a:pPr marL="861694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dirty="0" sz="2450" spc="-10">
                          <a:solidFill>
                            <a:srgbClr val="4D4D4D"/>
                          </a:solidFill>
                          <a:latin typeface="Arial MT"/>
                          <a:cs typeface="Arial MT"/>
                        </a:rPr>
                        <a:t>Documentation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247650"/>
                </a:tc>
                <a:tc>
                  <a:txBody>
                    <a:bodyPr/>
                    <a:lstStyle/>
                    <a:p>
                      <a:pPr marL="1163320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dirty="0" sz="2450" spc="-50">
                          <a:solidFill>
                            <a:srgbClr val="4A4A4A"/>
                          </a:solidFill>
                          <a:latin typeface="Arial MT"/>
                          <a:cs typeface="Arial MT"/>
                        </a:rPr>
                        <a:t>Process</a:t>
                      </a:r>
                      <a:r>
                        <a:rPr dirty="0" sz="2450" spc="-100">
                          <a:solidFill>
                            <a:srgbClr val="4A4A4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55">
                          <a:solidFill>
                            <a:srgbClr val="3E3E3E"/>
                          </a:solidFill>
                          <a:latin typeface="Arial MT"/>
                          <a:cs typeface="Arial MT"/>
                        </a:rPr>
                        <a:t>convenience</a:t>
                      </a:r>
                      <a:r>
                        <a:rPr dirty="0" sz="2450" spc="-50">
                          <a:solidFill>
                            <a:srgbClr val="3E3E3E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60">
                          <a:solidFill>
                            <a:srgbClr val="4F4F4F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2450" spc="-170">
                          <a:solidFill>
                            <a:srgbClr val="4F4F4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65">
                          <a:solidFill>
                            <a:srgbClr val="4F4F4F"/>
                          </a:solidFill>
                          <a:latin typeface="Arial MT"/>
                          <a:cs typeface="Arial MT"/>
                        </a:rPr>
                        <a:t>KYC</a:t>
                      </a:r>
                      <a:r>
                        <a:rPr dirty="0" sz="2450" spc="-120">
                          <a:solidFill>
                            <a:srgbClr val="4F4F4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0">
                          <a:solidFill>
                            <a:srgbClr val="474747"/>
                          </a:solidFill>
                          <a:latin typeface="Arial MT"/>
                          <a:cs typeface="Arial MT"/>
                        </a:rPr>
                        <a:t>requirements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247650"/>
                </a:tc>
              </a:tr>
              <a:tr h="918210">
                <a:tc>
                  <a:txBody>
                    <a:bodyPr/>
                    <a:lstStyle/>
                    <a:p>
                      <a:pPr marL="326390">
                        <a:lnSpc>
                          <a:spcPct val="100000"/>
                        </a:lnSpc>
                        <a:spcBef>
                          <a:spcPts val="1939"/>
                        </a:spcBef>
                      </a:pPr>
                      <a:r>
                        <a:rPr dirty="0" sz="2550" spc="-25">
                          <a:solidFill>
                            <a:srgbClr val="4F4F4F"/>
                          </a:solidFill>
                          <a:latin typeface="Arial MT"/>
                          <a:cs typeface="Arial MT"/>
                        </a:rPr>
                        <a:t>F3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246379"/>
                </a:tc>
                <a:tc>
                  <a:txBody>
                    <a:bodyPr/>
                    <a:lstStyle/>
                    <a:p>
                      <a:pPr marL="858519">
                        <a:lnSpc>
                          <a:spcPct val="100000"/>
                        </a:lnSpc>
                        <a:spcBef>
                          <a:spcPts val="2065"/>
                        </a:spcBef>
                      </a:pPr>
                      <a:r>
                        <a:rPr dirty="0" sz="2450" spc="-10">
                          <a:solidFill>
                            <a:srgbClr val="484848"/>
                          </a:solidFill>
                          <a:latin typeface="Arial MT"/>
                          <a:cs typeface="Arial MT"/>
                        </a:rPr>
                        <a:t>Foreclosure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262255"/>
                </a:tc>
                <a:tc>
                  <a:txBody>
                    <a:bodyPr/>
                    <a:lstStyle/>
                    <a:p>
                      <a:pPr marL="1163320">
                        <a:lnSpc>
                          <a:spcPct val="100000"/>
                        </a:lnSpc>
                        <a:spcBef>
                          <a:spcPts val="2020"/>
                        </a:spcBef>
                      </a:pPr>
                      <a:r>
                        <a:rPr dirty="0" sz="2450" spc="-35">
                          <a:solidFill>
                            <a:srgbClr val="444444"/>
                          </a:solidFill>
                          <a:latin typeface="Arial MT"/>
                          <a:cs typeface="Arial MT"/>
                        </a:rPr>
                        <a:t>Facility</a:t>
                      </a:r>
                      <a:r>
                        <a:rPr dirty="0" sz="2450" spc="-155">
                          <a:solidFill>
                            <a:srgbClr val="44444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20">
                          <a:solidFill>
                            <a:srgbClr val="474747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2450" spc="-145">
                          <a:solidFill>
                            <a:srgbClr val="47474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25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close</a:t>
                      </a:r>
                      <a:r>
                        <a:rPr dirty="0" sz="2450" spc="-95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30">
                          <a:solidFill>
                            <a:srgbClr val="4A4A4A"/>
                          </a:solidFill>
                          <a:latin typeface="Arial MT"/>
                          <a:cs typeface="Arial MT"/>
                        </a:rPr>
                        <a:t>loan</a:t>
                      </a:r>
                      <a:r>
                        <a:rPr dirty="0" sz="2450" spc="-145">
                          <a:solidFill>
                            <a:srgbClr val="4A4A4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25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before</a:t>
                      </a:r>
                      <a:r>
                        <a:rPr dirty="0" sz="2450" spc="-10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0">
                          <a:solidFill>
                            <a:srgbClr val="414141"/>
                          </a:solidFill>
                          <a:latin typeface="Arial MT"/>
                          <a:cs typeface="Arial MT"/>
                        </a:rPr>
                        <a:t>tenure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256540"/>
                </a:tc>
              </a:tr>
              <a:tr h="902969">
                <a:tc>
                  <a:txBody>
                    <a:bodyPr/>
                    <a:lstStyle/>
                    <a:p>
                      <a:pPr marL="328930">
                        <a:lnSpc>
                          <a:spcPct val="100000"/>
                        </a:lnSpc>
                        <a:spcBef>
                          <a:spcPts val="1965"/>
                        </a:spcBef>
                      </a:pPr>
                      <a:r>
                        <a:rPr dirty="0" sz="2450" spc="-25">
                          <a:solidFill>
                            <a:srgbClr val="4D4D4D"/>
                          </a:solidFill>
                          <a:latin typeface="Arial MT"/>
                          <a:cs typeface="Arial MT"/>
                        </a:rPr>
                        <a:t>F6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249555"/>
                </a:tc>
                <a:tc>
                  <a:txBody>
                    <a:bodyPr/>
                    <a:lstStyle/>
                    <a:p>
                      <a:pPr marL="861694">
                        <a:lnSpc>
                          <a:spcPct val="100000"/>
                        </a:lnSpc>
                        <a:spcBef>
                          <a:spcPts val="1965"/>
                        </a:spcBef>
                      </a:pPr>
                      <a:r>
                        <a:rPr dirty="0" sz="2450" spc="-65">
                          <a:solidFill>
                            <a:srgbClr val="2C2C2C"/>
                          </a:solidFill>
                          <a:latin typeface="Arial MT"/>
                          <a:cs typeface="Arial MT"/>
                        </a:rPr>
                        <a:t>Repayment</a:t>
                      </a:r>
                      <a:r>
                        <a:rPr dirty="0" sz="2450" spc="-95">
                          <a:solidFill>
                            <a:srgbClr val="2C2C2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0">
                          <a:solidFill>
                            <a:srgbClr val="484848"/>
                          </a:solidFill>
                          <a:latin typeface="Arial MT"/>
                          <a:cs typeface="Arial MT"/>
                        </a:rPr>
                        <a:t>Tenure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249555"/>
                </a:tc>
                <a:tc>
                  <a:txBody>
                    <a:bodyPr/>
                    <a:lstStyle/>
                    <a:p>
                      <a:pPr marL="1163320">
                        <a:lnSpc>
                          <a:spcPct val="100000"/>
                        </a:lnSpc>
                        <a:spcBef>
                          <a:spcPts val="1965"/>
                        </a:spcBef>
                      </a:pPr>
                      <a:r>
                        <a:rPr dirty="0" sz="2450" spc="-45">
                          <a:solidFill>
                            <a:srgbClr val="424242"/>
                          </a:solidFill>
                          <a:latin typeface="Arial MT"/>
                          <a:cs typeface="Arial MT"/>
                        </a:rPr>
                        <a:t>Flexibility</a:t>
                      </a:r>
                      <a:r>
                        <a:rPr dirty="0" sz="2450" spc="-155">
                          <a:solidFill>
                            <a:srgbClr val="42424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25">
                          <a:solidFill>
                            <a:srgbClr val="484848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2450" spc="-145">
                          <a:solidFill>
                            <a:srgbClr val="48484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30">
                          <a:solidFill>
                            <a:srgbClr val="4D4D4D"/>
                          </a:solidFill>
                          <a:latin typeface="Arial MT"/>
                          <a:cs typeface="Arial MT"/>
                        </a:rPr>
                        <a:t>loan</a:t>
                      </a:r>
                      <a:r>
                        <a:rPr dirty="0" sz="2450" spc="-114">
                          <a:solidFill>
                            <a:srgbClr val="4D4D4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0">
                          <a:solidFill>
                            <a:srgbClr val="4A4A4A"/>
                          </a:solidFill>
                          <a:latin typeface="Arial MT"/>
                          <a:cs typeface="Arial MT"/>
                        </a:rPr>
                        <a:t>duration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249555"/>
                </a:tc>
              </a:tr>
              <a:tr h="909955">
                <a:tc>
                  <a:txBody>
                    <a:bodyPr/>
                    <a:lstStyle/>
                    <a:p>
                      <a:pPr marL="326390">
                        <a:lnSpc>
                          <a:spcPct val="100000"/>
                        </a:lnSpc>
                        <a:spcBef>
                          <a:spcPts val="1930"/>
                        </a:spcBef>
                      </a:pPr>
                      <a:r>
                        <a:rPr dirty="0" sz="2550" spc="-25">
                          <a:solidFill>
                            <a:srgbClr val="4A4A4A"/>
                          </a:solidFill>
                          <a:latin typeface="Arial MT"/>
                          <a:cs typeface="Arial MT"/>
                        </a:rPr>
                        <a:t>F8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245110"/>
                </a:tc>
                <a:tc>
                  <a:txBody>
                    <a:bodyPr/>
                    <a:lstStyle/>
                    <a:p>
                      <a:pPr marL="855980">
                        <a:lnSpc>
                          <a:spcPct val="100000"/>
                        </a:lnSpc>
                        <a:spcBef>
                          <a:spcPts val="2080"/>
                        </a:spcBef>
                      </a:pPr>
                      <a:r>
                        <a:rPr dirty="0" sz="2450" spc="-10">
                          <a:solidFill>
                            <a:srgbClr val="414141"/>
                          </a:solidFill>
                          <a:latin typeface="Arial MT"/>
                          <a:cs typeface="Arial MT"/>
                        </a:rPr>
                        <a:t>Insurance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264160"/>
                </a:tc>
                <a:tc>
                  <a:txBody>
                    <a:bodyPr/>
                    <a:lstStyle/>
                    <a:p>
                      <a:pPr marL="1165860">
                        <a:lnSpc>
                          <a:spcPct val="100000"/>
                        </a:lnSpc>
                        <a:spcBef>
                          <a:spcPts val="2250"/>
                        </a:spcBef>
                      </a:pPr>
                      <a:r>
                        <a:rPr dirty="0" sz="2300" spc="6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Loan</a:t>
                      </a:r>
                      <a:r>
                        <a:rPr dirty="0" sz="2300" spc="3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>
                          <a:solidFill>
                            <a:srgbClr val="414141"/>
                          </a:solidFill>
                          <a:latin typeface="Arial MT"/>
                          <a:cs typeface="Arial MT"/>
                        </a:rPr>
                        <a:t>protection</a:t>
                      </a:r>
                      <a:r>
                        <a:rPr dirty="0" sz="2300" spc="80">
                          <a:solidFill>
                            <a:srgbClr val="41414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 spc="55">
                          <a:solidFill>
                            <a:srgbClr val="414141"/>
                          </a:solidFill>
                          <a:latin typeface="Arial MT"/>
                          <a:cs typeface="Arial MT"/>
                        </a:rPr>
                        <a:t>coverage</a:t>
                      </a:r>
                      <a:r>
                        <a:rPr dirty="0" sz="2300" spc="165">
                          <a:solidFill>
                            <a:srgbClr val="41414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00" spc="-1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benefits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B="0" marT="285750"/>
                </a:tc>
              </a:tr>
              <a:tr h="633095">
                <a:tc>
                  <a:txBody>
                    <a:bodyPr/>
                    <a:lstStyle/>
                    <a:p>
                      <a:pPr marL="326390">
                        <a:lnSpc>
                          <a:spcPts val="3015"/>
                        </a:lnSpc>
                        <a:spcBef>
                          <a:spcPts val="1870"/>
                        </a:spcBef>
                      </a:pPr>
                      <a:r>
                        <a:rPr dirty="0" sz="2550" spc="-25">
                          <a:solidFill>
                            <a:srgbClr val="3E3E3E"/>
                          </a:solidFill>
                          <a:latin typeface="Arial MT"/>
                          <a:cs typeface="Arial MT"/>
                        </a:rPr>
                        <a:t>F7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237490"/>
                </a:tc>
                <a:tc>
                  <a:txBody>
                    <a:bodyPr/>
                    <a:lstStyle/>
                    <a:p>
                      <a:pPr marL="855980">
                        <a:lnSpc>
                          <a:spcPts val="2895"/>
                        </a:lnSpc>
                        <a:spcBef>
                          <a:spcPts val="1995"/>
                        </a:spcBef>
                      </a:pPr>
                      <a:r>
                        <a:rPr dirty="0" sz="2450">
                          <a:solidFill>
                            <a:srgbClr val="444444"/>
                          </a:solidFill>
                          <a:latin typeface="Arial MT"/>
                          <a:cs typeface="Arial MT"/>
                        </a:rPr>
                        <a:t>Interest</a:t>
                      </a:r>
                      <a:r>
                        <a:rPr dirty="0" sz="2450" spc="-40">
                          <a:solidFill>
                            <a:srgbClr val="44444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0">
                          <a:solidFill>
                            <a:srgbClr val="484848"/>
                          </a:solidFill>
                          <a:latin typeface="Arial MT"/>
                          <a:cs typeface="Arial MT"/>
                        </a:rPr>
                        <a:t>Structure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253365"/>
                </a:tc>
                <a:tc>
                  <a:txBody>
                    <a:bodyPr/>
                    <a:lstStyle/>
                    <a:p>
                      <a:pPr marL="1163320">
                        <a:lnSpc>
                          <a:spcPts val="2870"/>
                        </a:lnSpc>
                        <a:spcBef>
                          <a:spcPts val="2020"/>
                        </a:spcBef>
                      </a:pPr>
                      <a:r>
                        <a:rPr dirty="0" sz="2450" spc="-55">
                          <a:solidFill>
                            <a:srgbClr val="4D4D4D"/>
                          </a:solidFill>
                          <a:latin typeface="Arial MT"/>
                          <a:cs typeface="Arial MT"/>
                        </a:rPr>
                        <a:t>Rate</a:t>
                      </a:r>
                      <a:r>
                        <a:rPr dirty="0" sz="2450" spc="-150">
                          <a:solidFill>
                            <a:srgbClr val="4D4D4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60">
                          <a:solidFill>
                            <a:srgbClr val="4D4D4D"/>
                          </a:solidFill>
                          <a:latin typeface="Arial MT"/>
                          <a:cs typeface="Arial MT"/>
                        </a:rPr>
                        <a:t>calculation</a:t>
                      </a:r>
                      <a:r>
                        <a:rPr dirty="0" sz="2450" spc="-95">
                          <a:solidFill>
                            <a:srgbClr val="4D4D4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50">
                          <a:solidFill>
                            <a:srgbClr val="4D5669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2450" spc="-150">
                          <a:solidFill>
                            <a:srgbClr val="4D566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stability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25654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8047" y="1807545"/>
            <a:ext cx="18241010" cy="486410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2700" marR="619760" indent="410845">
              <a:lnSpc>
                <a:spcPts val="3429"/>
              </a:lnSpc>
              <a:spcBef>
                <a:spcPts val="355"/>
              </a:spcBef>
              <a:buAutoNum type="arabicPlain"/>
              <a:tabLst>
                <a:tab pos="423545" algn="l"/>
              </a:tabLst>
            </a:pPr>
            <a:r>
              <a:rPr dirty="0" sz="3000">
                <a:latin typeface="Times New Roman"/>
                <a:cs typeface="Times New Roman"/>
              </a:rPr>
              <a:t>The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statistical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analysis</a:t>
            </a:r>
            <a:r>
              <a:rPr dirty="0" sz="3000" spc="-3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produced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Test</a:t>
            </a:r>
            <a:r>
              <a:rPr dirty="0" sz="3000" spc="-3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Statistic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value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of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54.746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and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P-Value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of</a:t>
            </a:r>
            <a:r>
              <a:rPr dirty="0" sz="3000" spc="-3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0.00000,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indicating</a:t>
            </a:r>
            <a:r>
              <a:rPr dirty="0" sz="3000" spc="-35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significant </a:t>
            </a:r>
            <a:r>
              <a:rPr dirty="0" sz="3000">
                <a:latin typeface="Times New Roman"/>
                <a:cs typeface="Times New Roman"/>
              </a:rPr>
              <a:t>variation</a:t>
            </a:r>
            <a:r>
              <a:rPr dirty="0" sz="3000" spc="-8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in</a:t>
            </a:r>
            <a:r>
              <a:rPr dirty="0" sz="3000" spc="-8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customer</a:t>
            </a:r>
            <a:r>
              <a:rPr dirty="0" sz="3000" spc="-85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preferences.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AutoNum type="arabicPlain"/>
            </a:pPr>
            <a:endParaRPr sz="3000">
              <a:latin typeface="Times New Roman"/>
              <a:cs typeface="Times New Roman"/>
            </a:endParaRPr>
          </a:p>
          <a:p>
            <a:pPr marL="12700" marR="5080" indent="410845">
              <a:lnSpc>
                <a:spcPts val="3429"/>
              </a:lnSpc>
              <a:buAutoNum type="arabicPlain"/>
              <a:tabLst>
                <a:tab pos="423545" algn="l"/>
              </a:tabLst>
            </a:pPr>
            <a:r>
              <a:rPr dirty="0" sz="3000">
                <a:latin typeface="Times New Roman"/>
                <a:cs typeface="Times New Roman"/>
              </a:rPr>
              <a:t>The</a:t>
            </a:r>
            <a:r>
              <a:rPr dirty="0" sz="3000" spc="-8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AI-</a:t>
            </a:r>
            <a:r>
              <a:rPr dirty="0" sz="3000">
                <a:latin typeface="Times New Roman"/>
                <a:cs typeface="Times New Roman"/>
              </a:rPr>
              <a:t>Predictive</a:t>
            </a:r>
            <a:r>
              <a:rPr dirty="0" sz="3000" spc="-8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Analytics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Tool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generated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an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Assurance</a:t>
            </a:r>
            <a:r>
              <a:rPr dirty="0" sz="3000" spc="-7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Level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of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100%,</a:t>
            </a:r>
            <a:r>
              <a:rPr dirty="0" sz="3000" spc="-7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indicating</a:t>
            </a:r>
            <a:r>
              <a:rPr dirty="0" sz="3000" spc="-8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high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confidence</a:t>
            </a:r>
            <a:r>
              <a:rPr dirty="0" sz="3000" spc="-7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in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the</a:t>
            </a:r>
            <a:r>
              <a:rPr dirty="0" sz="3000" spc="-75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obtained results.</a:t>
            </a:r>
            <a:endParaRPr sz="3000">
              <a:latin typeface="Times New Roman"/>
              <a:cs typeface="Times New Roman"/>
            </a:endParaRPr>
          </a:p>
          <a:p>
            <a:pPr marL="12700" marR="394970" indent="504190">
              <a:lnSpc>
                <a:spcPts val="6890"/>
              </a:lnSpc>
              <a:spcBef>
                <a:spcPts val="720"/>
              </a:spcBef>
              <a:buAutoNum type="arabicPlain"/>
              <a:tabLst>
                <a:tab pos="516890" algn="l"/>
              </a:tabLst>
            </a:pPr>
            <a:r>
              <a:rPr dirty="0" sz="3000">
                <a:latin typeface="Times New Roman"/>
                <a:cs typeface="Times New Roman"/>
              </a:rPr>
              <a:t>Among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the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eight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factors</a:t>
            </a:r>
            <a:r>
              <a:rPr dirty="0" sz="3000" spc="-3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evaluated,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F2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emerged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as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the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most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influential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factor,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followed</a:t>
            </a:r>
            <a:r>
              <a:rPr dirty="0" sz="3000" spc="-7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by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F5,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F3,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F6,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F8,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and</a:t>
            </a:r>
            <a:r>
              <a:rPr dirty="0" sz="3000" spc="-35">
                <a:latin typeface="Times New Roman"/>
                <a:cs typeface="Times New Roman"/>
              </a:rPr>
              <a:t> </a:t>
            </a:r>
            <a:r>
              <a:rPr dirty="0" sz="3000" spc="-25">
                <a:latin typeface="Times New Roman"/>
                <a:cs typeface="Times New Roman"/>
              </a:rPr>
              <a:t>F7. </a:t>
            </a:r>
            <a:r>
              <a:rPr dirty="0" sz="3000">
                <a:latin typeface="Times New Roman"/>
                <a:cs typeface="Times New Roman"/>
              </a:rPr>
              <a:t>4]</a:t>
            </a:r>
            <a:r>
              <a:rPr dirty="0" sz="3000" spc="-7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These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six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factors</a:t>
            </a:r>
            <a:r>
              <a:rPr dirty="0" sz="3000" spc="-7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were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selected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for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detailed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optimization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in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Phase</a:t>
            </a:r>
            <a:r>
              <a:rPr dirty="0" sz="3000" spc="-60">
                <a:latin typeface="Times New Roman"/>
                <a:cs typeface="Times New Roman"/>
              </a:rPr>
              <a:t> </a:t>
            </a:r>
            <a:r>
              <a:rPr dirty="0" sz="3000" spc="-25">
                <a:latin typeface="Times New Roman"/>
                <a:cs typeface="Times New Roman"/>
              </a:rPr>
              <a:t>2.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35"/>
              </a:spcBef>
            </a:pPr>
            <a:r>
              <a:rPr dirty="0" sz="3000">
                <a:latin typeface="Times New Roman"/>
                <a:cs typeface="Times New Roman"/>
              </a:rPr>
              <a:t>5]</a:t>
            </a:r>
            <a:r>
              <a:rPr dirty="0" sz="3000" spc="58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Customer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preferences</a:t>
            </a:r>
            <a:r>
              <a:rPr dirty="0" sz="3000" spc="-7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can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be</a:t>
            </a:r>
            <a:r>
              <a:rPr dirty="0" sz="3000" spc="-8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effectively</a:t>
            </a:r>
            <a:r>
              <a:rPr dirty="0" sz="3000" spc="-8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analyzed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and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ranked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using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predictive</a:t>
            </a:r>
            <a:r>
              <a:rPr dirty="0" sz="3000" spc="-8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analytics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techniques.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150" b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dirty="0" sz="6150" spc="-305" b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6150" b="0">
                <a:solidFill>
                  <a:srgbClr val="1C1C1C"/>
                </a:solidFill>
                <a:latin typeface="Times New Roman"/>
                <a:cs typeface="Times New Roman"/>
              </a:rPr>
              <a:t>Optimum</a:t>
            </a:r>
            <a:r>
              <a:rPr dirty="0" sz="6150" spc="160" b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dirty="0" sz="6150" spc="-10" b="0">
                <a:solidFill>
                  <a:srgbClr val="222222"/>
                </a:solidFill>
                <a:latin typeface="Times New Roman"/>
                <a:cs typeface="Times New Roman"/>
              </a:rPr>
              <a:t>Product</a:t>
            </a:r>
            <a:endParaRPr sz="6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52119" y="7545209"/>
            <a:ext cx="2998470" cy="728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600" spc="-35">
                <a:solidFill>
                  <a:srgbClr val="5E6F88"/>
                </a:solidFill>
                <a:latin typeface="Times New Roman"/>
                <a:cs typeface="Times New Roman"/>
              </a:rPr>
              <a:t>C2</a:t>
            </a:r>
            <a:r>
              <a:rPr dirty="0" sz="4600" spc="-280">
                <a:solidFill>
                  <a:srgbClr val="5E6F88"/>
                </a:solidFill>
                <a:latin typeface="Times New Roman"/>
                <a:cs typeface="Times New Roman"/>
              </a:rPr>
              <a:t> </a:t>
            </a:r>
            <a:r>
              <a:rPr dirty="0" sz="4600" spc="-30">
                <a:solidFill>
                  <a:srgbClr val="61718B"/>
                </a:solidFill>
                <a:latin typeface="Times New Roman"/>
                <a:cs typeface="Times New Roman"/>
              </a:rPr>
              <a:t>D2</a:t>
            </a:r>
            <a:r>
              <a:rPr dirty="0" sz="4600" spc="-250">
                <a:solidFill>
                  <a:srgbClr val="61718B"/>
                </a:solidFill>
                <a:latin typeface="Times New Roman"/>
                <a:cs typeface="Times New Roman"/>
              </a:rPr>
              <a:t> </a:t>
            </a:r>
            <a:r>
              <a:rPr dirty="0" sz="4600" spc="-35">
                <a:solidFill>
                  <a:srgbClr val="5B758E"/>
                </a:solidFill>
                <a:latin typeface="Times New Roman"/>
                <a:cs typeface="Times New Roman"/>
              </a:rPr>
              <a:t>E2</a:t>
            </a:r>
            <a:r>
              <a:rPr dirty="0" sz="4600" spc="-250">
                <a:solidFill>
                  <a:srgbClr val="5B758E"/>
                </a:solidFill>
                <a:latin typeface="Times New Roman"/>
                <a:cs typeface="Times New Roman"/>
              </a:rPr>
              <a:t> </a:t>
            </a:r>
            <a:r>
              <a:rPr dirty="0" sz="4600" spc="-25">
                <a:solidFill>
                  <a:srgbClr val="5D7186"/>
                </a:solidFill>
                <a:latin typeface="Times New Roman"/>
                <a:cs typeface="Times New Roman"/>
              </a:rPr>
              <a:t>F2</a:t>
            </a:r>
            <a:endParaRPr sz="4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4360" y="5782926"/>
            <a:ext cx="1334609" cy="187637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97841" y="3234989"/>
            <a:ext cx="8619906" cy="66165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71751" y="8667150"/>
            <a:ext cx="16163925" cy="80200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3375025" marR="5080" indent="-3362960">
              <a:lnSpc>
                <a:spcPts val="3000"/>
              </a:lnSpc>
              <a:spcBef>
                <a:spcPts val="290"/>
              </a:spcBef>
            </a:pP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Probability</a:t>
            </a:r>
            <a:r>
              <a:rPr dirty="0" sz="2600" spc="-10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theta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&gt;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tau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value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represents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probability</a:t>
            </a:r>
            <a:r>
              <a:rPr dirty="0" sz="2600" spc="-10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actual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success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rate/attractiveness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across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entire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population </a:t>
            </a:r>
            <a:r>
              <a:rPr dirty="0" sz="2600">
                <a:latin typeface="Times New Roman"/>
                <a:cs typeface="Times New Roman"/>
              </a:rPr>
              <a:t>more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than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tau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i.e.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expected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success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rate/attractiveness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for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given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offer.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9137" y="914377"/>
            <a:ext cx="15250409" cy="70099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7772" y="8569616"/>
            <a:ext cx="18291810" cy="144970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algn="ctr" marL="12700" marR="5080">
              <a:lnSpc>
                <a:spcPts val="2760"/>
              </a:lnSpc>
              <a:spcBef>
                <a:spcPts val="290"/>
              </a:spcBef>
            </a:pPr>
            <a:r>
              <a:rPr dirty="0" sz="2400">
                <a:latin typeface="Times New Roman"/>
                <a:cs typeface="Times New Roman"/>
              </a:rPr>
              <a:t>Based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 algorithm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utility</a:t>
            </a:r>
            <a:r>
              <a:rPr dirty="0" sz="2400" spc="-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scores,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under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2nd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layer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statistical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modeling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,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system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has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analyzed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predicted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"RANKING"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for </a:t>
            </a:r>
            <a:r>
              <a:rPr dirty="0" sz="2400">
                <a:latin typeface="Times New Roman"/>
                <a:cs typeface="Times New Roman"/>
              </a:rPr>
              <a:t>each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4096 combinations.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There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4096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combinations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4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offers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6 features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,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4*4*4*4*4*4=4096.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ts val="2655"/>
              </a:lnSpc>
            </a:pP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tool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,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Ranking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goes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till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total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4096</a:t>
            </a:r>
            <a:r>
              <a:rPr dirty="0" sz="2400" spc="-10">
                <a:latin typeface="Times New Roman"/>
                <a:cs typeface="Times New Roman"/>
              </a:rPr>
              <a:t> rows</a:t>
            </a:r>
            <a:r>
              <a:rPr dirty="0" sz="2400" spc="-10" b="1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algn="ctr" marR="1270">
              <a:lnSpc>
                <a:spcPts val="2845"/>
              </a:lnSpc>
            </a:pPr>
            <a:r>
              <a:rPr dirty="0" sz="2400" b="1">
                <a:latin typeface="Times New Roman"/>
                <a:cs typeface="Times New Roman"/>
              </a:rPr>
              <a:t>System</a:t>
            </a:r>
            <a:r>
              <a:rPr dirty="0" sz="2400" spc="-7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has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given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top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100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Ranked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combinations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offers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across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all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6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features.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2172" y="914250"/>
            <a:ext cx="14492873" cy="69797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459029" y="1682580"/>
            <a:ext cx="51943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</a:t>
            </a:r>
            <a:r>
              <a:rPr dirty="0" spc="-110"/>
              <a:t> </a:t>
            </a:r>
            <a:r>
              <a:rPr dirty="0" spc="-10"/>
              <a:t>Strategies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047" y="3441866"/>
            <a:ext cx="18415000" cy="564705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 marR="699770">
              <a:lnSpc>
                <a:spcPts val="2760"/>
              </a:lnSpc>
              <a:spcBef>
                <a:spcPts val="290"/>
              </a:spcBef>
            </a:pPr>
            <a:r>
              <a:rPr dirty="0" sz="2400">
                <a:latin typeface="Times New Roman"/>
                <a:cs typeface="Times New Roman"/>
              </a:rPr>
              <a:t>Based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findings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 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study,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financial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institutions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implement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customer-</a:t>
            </a:r>
            <a:r>
              <a:rPr dirty="0" sz="2400">
                <a:latin typeface="Times New Roman"/>
                <a:cs typeface="Times New Roman"/>
              </a:rPr>
              <a:t>centric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personal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loan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products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by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focusing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features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most </a:t>
            </a:r>
            <a:r>
              <a:rPr dirty="0" sz="2400">
                <a:latin typeface="Times New Roman"/>
                <a:cs typeface="Times New Roman"/>
              </a:rPr>
              <a:t>preferred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by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customers.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identified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high-priority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loan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attributes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should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incorporated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into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product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design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marketing</a:t>
            </a:r>
            <a:r>
              <a:rPr dirty="0" sz="2400" spc="-10">
                <a:latin typeface="Times New Roman"/>
                <a:cs typeface="Times New Roman"/>
              </a:rPr>
              <a:t> strategies.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70"/>
              </a:spcBef>
            </a:pPr>
            <a:r>
              <a:rPr dirty="0" sz="2400">
                <a:latin typeface="Times New Roman"/>
                <a:cs typeface="Times New Roman"/>
              </a:rPr>
              <a:t>Banks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financial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institutions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utilize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customer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preference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to: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24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dirty="0" sz="2400">
                <a:latin typeface="Times New Roman"/>
                <a:cs typeface="Times New Roman"/>
              </a:rPr>
              <a:t>Design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loan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products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aligned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with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customer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expectations.</a:t>
            </a:r>
            <a:endParaRPr sz="24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18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dirty="0" sz="2400">
                <a:latin typeface="Times New Roman"/>
                <a:cs typeface="Times New Roman"/>
              </a:rPr>
              <a:t>Improve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loan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approval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disbursal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processes.</a:t>
            </a:r>
            <a:endParaRPr sz="24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15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dirty="0" sz="2400">
                <a:latin typeface="Times New Roman"/>
                <a:cs typeface="Times New Roman"/>
              </a:rPr>
              <a:t>Offer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flexible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repayment</a:t>
            </a:r>
            <a:r>
              <a:rPr dirty="0" sz="2400" spc="-10">
                <a:latin typeface="Times New Roman"/>
                <a:cs typeface="Times New Roman"/>
              </a:rPr>
              <a:t> options.</a:t>
            </a:r>
            <a:endParaRPr sz="24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155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dirty="0" sz="2400">
                <a:latin typeface="Times New Roman"/>
                <a:cs typeface="Times New Roman"/>
              </a:rPr>
              <a:t>Develop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competitive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interest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rate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structures.</a:t>
            </a:r>
            <a:endParaRPr sz="24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150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dirty="0" sz="2400">
                <a:latin typeface="Times New Roman"/>
                <a:cs typeface="Times New Roman"/>
              </a:rPr>
              <a:t>Enhance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customer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satisfaction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0">
                <a:latin typeface="Times New Roman"/>
                <a:cs typeface="Times New Roman"/>
              </a:rPr>
              <a:t> retention.</a:t>
            </a:r>
            <a:endParaRPr sz="24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155"/>
              </a:spcBef>
              <a:buSzPct val="41666"/>
              <a:buFont typeface="Symbol"/>
              <a:buChar char=""/>
              <a:tabLst>
                <a:tab pos="469900" algn="l"/>
              </a:tabLst>
            </a:pPr>
            <a:r>
              <a:rPr dirty="0" sz="2400">
                <a:latin typeface="Times New Roman"/>
                <a:cs typeface="Times New Roman"/>
              </a:rPr>
              <a:t>Use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predictive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analytics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continuous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product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optimization.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implementation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these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strategies can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help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institutions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improve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product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acceptance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gain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competitive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advantage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personal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loan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market.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940" rIns="0" bIns="0" rtlCol="0" vert="horz">
            <a:spAutoFit/>
          </a:bodyPr>
          <a:lstStyle/>
          <a:p>
            <a:pPr marL="744093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Observations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6946" y="2057221"/>
            <a:ext cx="12864465" cy="3101975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50"/>
              </a:spcBef>
              <a:buSzPct val="41666"/>
              <a:buFont typeface="Symbol"/>
              <a:buChar char=""/>
              <a:tabLst>
                <a:tab pos="240665" algn="l"/>
              </a:tabLst>
            </a:pPr>
            <a:r>
              <a:rPr dirty="0" sz="2400">
                <a:latin typeface="Times New Roman"/>
                <a:cs typeface="Times New Roman"/>
              </a:rPr>
              <a:t>Customers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consider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multiple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factors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before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selecting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personal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loan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product.</a:t>
            </a:r>
            <a:endParaRPr sz="2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155"/>
              </a:spcBef>
              <a:buSzPct val="41666"/>
              <a:buFont typeface="Symbol"/>
              <a:buChar char=""/>
              <a:tabLst>
                <a:tab pos="240665" algn="l"/>
              </a:tabLst>
            </a:pPr>
            <a:r>
              <a:rPr dirty="0" sz="2400" spc="-10">
                <a:latin typeface="Times New Roman"/>
                <a:cs typeface="Times New Roman"/>
              </a:rPr>
              <a:t>Interest-</a:t>
            </a:r>
            <a:r>
              <a:rPr dirty="0" sz="2400">
                <a:latin typeface="Times New Roman"/>
                <a:cs typeface="Times New Roman"/>
              </a:rPr>
              <a:t>related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factors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repayment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flexibility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significantly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influenced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decision-making.</a:t>
            </a:r>
            <a:endParaRPr sz="2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175"/>
              </a:spcBef>
              <a:buSzPct val="41666"/>
              <a:buFont typeface="Symbol"/>
              <a:buChar char=""/>
              <a:tabLst>
                <a:tab pos="240665" algn="l"/>
              </a:tabLst>
            </a:pPr>
            <a:r>
              <a:rPr dirty="0" sz="2400" spc="-10">
                <a:latin typeface="Times New Roman"/>
                <a:cs typeface="Times New Roman"/>
              </a:rPr>
              <a:t>Convenience-</a:t>
            </a:r>
            <a:r>
              <a:rPr dirty="0" sz="2400">
                <a:latin typeface="Times New Roman"/>
                <a:cs typeface="Times New Roman"/>
              </a:rPr>
              <a:t>oriented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features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such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as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faster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disbursal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simplified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documentation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highly</a:t>
            </a:r>
            <a:r>
              <a:rPr dirty="0" sz="2400" spc="-10">
                <a:latin typeface="Times New Roman"/>
                <a:cs typeface="Times New Roman"/>
              </a:rPr>
              <a:t> valued.</a:t>
            </a:r>
            <a:endParaRPr sz="2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155"/>
              </a:spcBef>
              <a:buSzPct val="41666"/>
              <a:buFont typeface="Symbol"/>
              <a:buChar char=""/>
              <a:tabLst>
                <a:tab pos="240665" algn="l"/>
              </a:tabLst>
            </a:pPr>
            <a:r>
              <a:rPr dirty="0" sz="2400">
                <a:latin typeface="Times New Roman"/>
                <a:cs typeface="Times New Roman"/>
              </a:rPr>
              <a:t>Certain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loan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features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received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considerably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higher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preference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scores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than </a:t>
            </a:r>
            <a:r>
              <a:rPr dirty="0" sz="2400" spc="-10">
                <a:latin typeface="Times New Roman"/>
                <a:cs typeface="Times New Roman"/>
              </a:rPr>
              <a:t>others.</a:t>
            </a:r>
            <a:endParaRPr sz="2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155"/>
              </a:spcBef>
              <a:buSzPct val="41666"/>
              <a:buFont typeface="Symbol"/>
              <a:buChar char=""/>
              <a:tabLst>
                <a:tab pos="240665" algn="l"/>
              </a:tabLst>
            </a:pPr>
            <a:r>
              <a:rPr dirty="0" sz="2400">
                <a:latin typeface="Times New Roman"/>
                <a:cs typeface="Times New Roman"/>
              </a:rPr>
              <a:t>Customer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preferences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effectively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analyzed using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predictive analytics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techniques.</a:t>
            </a:r>
            <a:endParaRPr sz="2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155"/>
              </a:spcBef>
              <a:buSzPct val="41666"/>
              <a:buFont typeface="Symbol"/>
              <a:buChar char=""/>
              <a:tabLst>
                <a:tab pos="240665" algn="l"/>
              </a:tabLst>
            </a:pPr>
            <a:r>
              <a:rPr dirty="0" sz="2400" b="1">
                <a:latin typeface="Times New Roman"/>
                <a:cs typeface="Times New Roman"/>
              </a:rPr>
              <a:t>A2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B3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C2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D2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E2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F2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found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most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significant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combination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among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all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studied</a:t>
            </a:r>
            <a:r>
              <a:rPr dirty="0" sz="2400" spc="-10">
                <a:latin typeface="Times New Roman"/>
                <a:cs typeface="Times New Roman"/>
              </a:rPr>
              <a:t> ones.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49463" y="6167218"/>
            <a:ext cx="220789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 b="1">
                <a:latin typeface="Times New Roman"/>
                <a:cs typeface="Times New Roman"/>
              </a:rPr>
              <a:t>Conclusion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8047" y="7225227"/>
            <a:ext cx="18180050" cy="217106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 marR="496570">
              <a:lnSpc>
                <a:spcPts val="2760"/>
              </a:lnSpc>
              <a:spcBef>
                <a:spcPts val="290"/>
              </a:spcBef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study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successfully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identified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major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factors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influencing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personal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loan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selection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analyzed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customer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preferences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regarding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various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loan </a:t>
            </a:r>
            <a:r>
              <a:rPr dirty="0" sz="2400">
                <a:latin typeface="Times New Roman"/>
                <a:cs typeface="Times New Roman"/>
              </a:rPr>
              <a:t>features.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Through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survey-</a:t>
            </a:r>
            <a:r>
              <a:rPr dirty="0" sz="2400">
                <a:latin typeface="Times New Roman"/>
                <a:cs typeface="Times New Roman"/>
              </a:rPr>
              <a:t>based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collection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predictive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analytics,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valuable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insights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were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obtained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regarding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customer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expectations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from </a:t>
            </a:r>
            <a:r>
              <a:rPr dirty="0" sz="2400">
                <a:latin typeface="Times New Roman"/>
                <a:cs typeface="Times New Roman"/>
              </a:rPr>
              <a:t>personal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loan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products.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ts val="2760"/>
              </a:lnSpc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results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indicate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 customers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prefer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loan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products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offer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affordability,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convenience,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flexibility,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transparency.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application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AI-</a:t>
            </a:r>
            <a:r>
              <a:rPr dirty="0" sz="2400">
                <a:latin typeface="Times New Roman"/>
                <a:cs typeface="Times New Roman"/>
              </a:rPr>
              <a:t>Predictive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Analytics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Tool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helped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identifying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preferred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feature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combinations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optimizing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product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offerings.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study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demonstrates</a:t>
            </a:r>
            <a:r>
              <a:rPr dirty="0" sz="2400" spc="5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900"/>
              </a:lnSpc>
            </a:pPr>
            <a:r>
              <a:rPr dirty="0" sz="2400">
                <a:latin typeface="Times New Roman"/>
                <a:cs typeface="Times New Roman"/>
              </a:rPr>
              <a:t>usefulness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data-</a:t>
            </a:r>
            <a:r>
              <a:rPr dirty="0" sz="2400">
                <a:latin typeface="Times New Roman"/>
                <a:cs typeface="Times New Roman"/>
              </a:rPr>
              <a:t>driven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approaches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designing</a:t>
            </a:r>
            <a:r>
              <a:rPr dirty="0" sz="2400" spc="-10">
                <a:latin typeface="Times New Roman"/>
                <a:cs typeface="Times New Roman"/>
              </a:rPr>
              <a:t> customer-</a:t>
            </a:r>
            <a:r>
              <a:rPr dirty="0" sz="2400">
                <a:latin typeface="Times New Roman"/>
                <a:cs typeface="Times New Roman"/>
              </a:rPr>
              <a:t>centric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financial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products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 improving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business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decision-making</a:t>
            </a:r>
            <a:r>
              <a:rPr dirty="0" sz="2600" spc="-1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048601" cy="16446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931357" y="3273977"/>
            <a:ext cx="6178550" cy="17087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50" b="0">
                <a:solidFill>
                  <a:srgbClr val="1D398B"/>
                </a:solidFill>
                <a:latin typeface="Times New Roman"/>
                <a:cs typeface="Times New Roman"/>
              </a:rPr>
              <a:t>Thank</a:t>
            </a:r>
            <a:r>
              <a:rPr dirty="0" sz="11050" spc="135" b="0">
                <a:solidFill>
                  <a:srgbClr val="1D398B"/>
                </a:solidFill>
                <a:latin typeface="Times New Roman"/>
                <a:cs typeface="Times New Roman"/>
              </a:rPr>
              <a:t> </a:t>
            </a:r>
            <a:r>
              <a:rPr dirty="0" sz="11050" spc="-725" b="0">
                <a:solidFill>
                  <a:srgbClr val="1D3A89"/>
                </a:solidFill>
                <a:latin typeface="Times New Roman"/>
                <a:cs typeface="Times New Roman"/>
              </a:rPr>
              <a:t>You</a:t>
            </a:r>
            <a:endParaRPr sz="11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27295" y="6560400"/>
            <a:ext cx="13780135" cy="1099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950" spc="180">
                <a:solidFill>
                  <a:srgbClr val="6D6D6D"/>
                </a:solidFill>
                <a:latin typeface="Times New Roman"/>
                <a:cs typeface="Times New Roman"/>
              </a:rPr>
              <a:t>"Data-</a:t>
            </a:r>
            <a:r>
              <a:rPr dirty="0" sz="2950" spc="170">
                <a:solidFill>
                  <a:srgbClr val="6D6D6D"/>
                </a:solidFill>
                <a:latin typeface="Times New Roman"/>
                <a:cs typeface="Times New Roman"/>
              </a:rPr>
              <a:t>driven</a:t>
            </a:r>
            <a:r>
              <a:rPr dirty="0" sz="2950" spc="-10">
                <a:solidFill>
                  <a:srgbClr val="6D6D6D"/>
                </a:solidFill>
                <a:latin typeface="Times New Roman"/>
                <a:cs typeface="Times New Roman"/>
              </a:rPr>
              <a:t>  </a:t>
            </a:r>
            <a:r>
              <a:rPr dirty="0" sz="2950" spc="165">
                <a:solidFill>
                  <a:srgbClr val="616689"/>
                </a:solidFill>
                <a:latin typeface="Times New Roman"/>
                <a:cs typeface="Times New Roman"/>
              </a:rPr>
              <a:t>analysis</a:t>
            </a:r>
            <a:r>
              <a:rPr dirty="0" sz="2950" spc="5">
                <a:solidFill>
                  <a:srgbClr val="616689"/>
                </a:solidFill>
                <a:latin typeface="Times New Roman"/>
                <a:cs typeface="Times New Roman"/>
              </a:rPr>
              <a:t>  </a:t>
            </a:r>
            <a:r>
              <a:rPr dirty="0" sz="2950" spc="180">
                <a:solidFill>
                  <a:srgbClr val="63748E"/>
                </a:solidFill>
                <a:latin typeface="Times New Roman"/>
                <a:cs typeface="Times New Roman"/>
              </a:rPr>
              <a:t>provides</a:t>
            </a:r>
            <a:r>
              <a:rPr dirty="0" sz="2950" spc="434">
                <a:solidFill>
                  <a:srgbClr val="63748E"/>
                </a:solidFill>
                <a:latin typeface="Times New Roman"/>
                <a:cs typeface="Times New Roman"/>
              </a:rPr>
              <a:t> </a:t>
            </a:r>
            <a:r>
              <a:rPr dirty="0" sz="2950" spc="170">
                <a:solidFill>
                  <a:srgbClr val="6D6F85"/>
                </a:solidFill>
                <a:latin typeface="Times New Roman"/>
                <a:cs typeface="Times New Roman"/>
              </a:rPr>
              <a:t>the</a:t>
            </a:r>
            <a:r>
              <a:rPr dirty="0" sz="2950" spc="15">
                <a:solidFill>
                  <a:srgbClr val="6D6F85"/>
                </a:solidFill>
                <a:latin typeface="Times New Roman"/>
                <a:cs typeface="Times New Roman"/>
              </a:rPr>
              <a:t>  </a:t>
            </a:r>
            <a:r>
              <a:rPr dirty="0" sz="2950" spc="210">
                <a:solidFill>
                  <a:srgbClr val="5F7794"/>
                </a:solidFill>
                <a:latin typeface="Times New Roman"/>
                <a:cs typeface="Times New Roman"/>
              </a:rPr>
              <a:t>roadmap</a:t>
            </a:r>
            <a:r>
              <a:rPr dirty="0" sz="2950" spc="300">
                <a:solidFill>
                  <a:srgbClr val="5F7794"/>
                </a:solidFill>
                <a:latin typeface="Times New Roman"/>
                <a:cs typeface="Times New Roman"/>
              </a:rPr>
              <a:t> </a:t>
            </a:r>
            <a:r>
              <a:rPr dirty="0" sz="2950" spc="160">
                <a:solidFill>
                  <a:srgbClr val="636F9A"/>
                </a:solidFill>
                <a:latin typeface="Times New Roman"/>
                <a:cs typeface="Times New Roman"/>
              </a:rPr>
              <a:t>for</a:t>
            </a:r>
            <a:r>
              <a:rPr dirty="0" sz="2950" spc="434">
                <a:solidFill>
                  <a:srgbClr val="636F9A"/>
                </a:solidFill>
                <a:latin typeface="Times New Roman"/>
                <a:cs typeface="Times New Roman"/>
              </a:rPr>
              <a:t> </a:t>
            </a:r>
            <a:r>
              <a:rPr dirty="0" sz="2950" spc="185">
                <a:solidFill>
                  <a:srgbClr val="717171"/>
                </a:solidFill>
                <a:latin typeface="Times New Roman"/>
                <a:cs typeface="Times New Roman"/>
              </a:rPr>
              <a:t>customer-</a:t>
            </a:r>
            <a:r>
              <a:rPr dirty="0" sz="2950" spc="155">
                <a:solidFill>
                  <a:srgbClr val="717171"/>
                </a:solidFill>
                <a:latin typeface="Times New Roman"/>
                <a:cs typeface="Times New Roman"/>
              </a:rPr>
              <a:t>centric</a:t>
            </a:r>
            <a:r>
              <a:rPr dirty="0" sz="2950" spc="415">
                <a:solidFill>
                  <a:srgbClr val="717171"/>
                </a:solidFill>
                <a:latin typeface="Times New Roman"/>
                <a:cs typeface="Times New Roman"/>
              </a:rPr>
              <a:t> </a:t>
            </a:r>
            <a:r>
              <a:rPr dirty="0" sz="2950" spc="150">
                <a:solidFill>
                  <a:srgbClr val="616161"/>
                </a:solidFill>
                <a:latin typeface="Times New Roman"/>
                <a:cs typeface="Times New Roman"/>
              </a:rPr>
              <a:t>innovation."</a:t>
            </a:r>
            <a:endParaRPr sz="2950">
              <a:latin typeface="Times New Roman"/>
              <a:cs typeface="Times New Roman"/>
            </a:endParaRPr>
          </a:p>
          <a:p>
            <a:pPr algn="ctr" marL="4493260" marR="4437380">
              <a:lnSpc>
                <a:spcPts val="2470"/>
              </a:lnSpc>
              <a:spcBef>
                <a:spcPts val="55"/>
              </a:spcBef>
            </a:pPr>
            <a:r>
              <a:rPr dirty="0" sz="2000">
                <a:latin typeface="Arial MT"/>
                <a:cs typeface="Arial MT"/>
              </a:rPr>
              <a:t>Bedmutha</a:t>
            </a:r>
            <a:r>
              <a:rPr dirty="0" sz="2000" spc="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Jiya</a:t>
            </a:r>
            <a:r>
              <a:rPr dirty="0" sz="2000" spc="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Pravin</a:t>
            </a:r>
            <a:r>
              <a:rPr dirty="0" sz="2000" spc="120"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0111C"/>
                </a:solidFill>
                <a:latin typeface="Arial MT"/>
                <a:cs typeface="Arial MT"/>
              </a:rPr>
              <a:t>|</a:t>
            </a:r>
            <a:r>
              <a:rPr dirty="0" sz="2000" spc="90">
                <a:solidFill>
                  <a:srgbClr val="00111C"/>
                </a:solidFill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M.Sc.</a:t>
            </a:r>
            <a:r>
              <a:rPr dirty="0" sz="2000" spc="10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Statistics</a:t>
            </a:r>
            <a:r>
              <a:rPr dirty="0" sz="2000" spc="10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(I) </a:t>
            </a:r>
            <a:r>
              <a:rPr dirty="0" sz="2000">
                <a:latin typeface="Arial MT"/>
                <a:cs typeface="Arial MT"/>
              </a:rPr>
              <a:t>Modern</a:t>
            </a:r>
            <a:r>
              <a:rPr dirty="0" sz="2000" spc="10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College,</a:t>
            </a:r>
            <a:r>
              <a:rPr dirty="0" sz="2000" spc="1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Shivajinagar,</a:t>
            </a:r>
            <a:r>
              <a:rPr dirty="0" sz="2000" spc="12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Pune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2026-06-16T06:14:31Z</dcterms:created>
  <dcterms:modified xsi:type="dcterms:W3CDTF">2026-06-16T06:14:31Z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2026-06-15T00:00:00Z</vt:filetime>
  </property>
  <property fmtid="{D5CDD505-2E9C-101B-9397-08002B2CF9AE}" pid="4" name="Creator">
    <vt:lpwstr>Microsoft® Word 2016</vt:lpwstr>
  </property>
  <property fmtid="{D5CDD505-2E9C-101B-9397-08002B2CF9AE}" pid="5" name="LastSaved">
    <vt:filetime>2026-06-16T00:00:00Z</vt:filetime>
  </property>
  <property fmtid="{D5CDD505-2E9C-101B-9397-08002B2CF9AE}" pid="6" name="Producer">
    <vt:lpwstr>www.ilovepdf.com</vt:lpwstr>
  </property>
</Properties>
</file>